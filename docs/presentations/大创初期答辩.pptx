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9" r:id="rId5"/>
    <p:sldId id="264" r:id="rId6"/>
    <p:sldId id="260" r:id="rId8"/>
    <p:sldId id="265" r:id="rId9"/>
    <p:sldId id="261" r:id="rId10"/>
    <p:sldId id="281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17406D"/>
    <a:srgbClr val="3645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63747-E947-4EE8-A3D7-5C559D64BD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B4B9A-146B-438D-BC76-C366C66ED2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111947" y="351889"/>
            <a:ext cx="465708" cy="472063"/>
            <a:chOff x="4796805" y="-215900"/>
            <a:chExt cx="2093913" cy="2122488"/>
          </a:xfrm>
          <a:solidFill>
            <a:srgbClr val="0070C0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310757" y="351889"/>
            <a:ext cx="465708" cy="472063"/>
            <a:chOff x="7717810" y="-375235"/>
            <a:chExt cx="2093913" cy="2122488"/>
          </a:xfrm>
          <a:solidFill>
            <a:srgbClr val="0070C0"/>
          </a:solidFill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7717810" y="-375235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7873033" y="-212106"/>
              <a:ext cx="1796329" cy="1793077"/>
            </a:xfrm>
            <a:custGeom>
              <a:avLst/>
              <a:gdLst>
                <a:gd name="T0" fmla="*/ 439327 w 1145"/>
                <a:gd name="T1" fmla="*/ 326030 h 1145"/>
                <a:gd name="T2" fmla="*/ 326620 w 1145"/>
                <a:gd name="T3" fmla="*/ 438533 h 1145"/>
                <a:gd name="T4" fmla="*/ 439327 w 1145"/>
                <a:gd name="T5" fmla="*/ 551036 h 1145"/>
                <a:gd name="T6" fmla="*/ 552034 w 1145"/>
                <a:gd name="T7" fmla="*/ 438533 h 1145"/>
                <a:gd name="T8" fmla="*/ 439327 w 1145"/>
                <a:gd name="T9" fmla="*/ 326030 h 1145"/>
                <a:gd name="T10" fmla="*/ 485330 w 1145"/>
                <a:gd name="T11" fmla="*/ 652824 h 1145"/>
                <a:gd name="T12" fmla="*/ 485330 w 1145"/>
                <a:gd name="T13" fmla="*/ 601547 h 1145"/>
                <a:gd name="T14" fmla="*/ 393324 w 1145"/>
                <a:gd name="T15" fmla="*/ 601547 h 1145"/>
                <a:gd name="T16" fmla="*/ 393324 w 1145"/>
                <a:gd name="T17" fmla="*/ 652824 h 1145"/>
                <a:gd name="T18" fmla="*/ 224647 w 1145"/>
                <a:gd name="T19" fmla="*/ 484452 h 1145"/>
                <a:gd name="T20" fmla="*/ 275250 w 1145"/>
                <a:gd name="T21" fmla="*/ 484452 h 1145"/>
                <a:gd name="T22" fmla="*/ 275250 w 1145"/>
                <a:gd name="T23" fmla="*/ 392613 h 1145"/>
                <a:gd name="T24" fmla="*/ 224647 w 1145"/>
                <a:gd name="T25" fmla="*/ 392613 h 1145"/>
                <a:gd name="T26" fmla="*/ 393324 w 1145"/>
                <a:gd name="T27" fmla="*/ 224241 h 1145"/>
                <a:gd name="T28" fmla="*/ 393324 w 1145"/>
                <a:gd name="T29" fmla="*/ 274753 h 1145"/>
                <a:gd name="T30" fmla="*/ 485330 w 1145"/>
                <a:gd name="T31" fmla="*/ 274753 h 1145"/>
                <a:gd name="T32" fmla="*/ 485330 w 1145"/>
                <a:gd name="T33" fmla="*/ 224241 h 1145"/>
                <a:gd name="T34" fmla="*/ 654007 w 1145"/>
                <a:gd name="T35" fmla="*/ 392613 h 1145"/>
                <a:gd name="T36" fmla="*/ 603404 w 1145"/>
                <a:gd name="T37" fmla="*/ 392613 h 1145"/>
                <a:gd name="T38" fmla="*/ 603404 w 1145"/>
                <a:gd name="T39" fmla="*/ 484452 h 1145"/>
                <a:gd name="T40" fmla="*/ 654007 w 1145"/>
                <a:gd name="T41" fmla="*/ 484452 h 1145"/>
                <a:gd name="T42" fmla="*/ 485330 w 1145"/>
                <a:gd name="T43" fmla="*/ 652824 h 1145"/>
                <a:gd name="T44" fmla="*/ 747546 w 1145"/>
                <a:gd name="T45" fmla="*/ 392613 h 1145"/>
                <a:gd name="T46" fmla="*/ 485330 w 1145"/>
                <a:gd name="T47" fmla="*/ 130871 h 1145"/>
                <a:gd name="T48" fmla="*/ 485330 w 1145"/>
                <a:gd name="T49" fmla="*/ 0 h 1145"/>
                <a:gd name="T50" fmla="*/ 393324 w 1145"/>
                <a:gd name="T51" fmla="*/ 0 h 1145"/>
                <a:gd name="T52" fmla="*/ 393324 w 1145"/>
                <a:gd name="T53" fmla="*/ 130871 h 1145"/>
                <a:gd name="T54" fmla="*/ 131108 w 1145"/>
                <a:gd name="T55" fmla="*/ 392613 h 1145"/>
                <a:gd name="T56" fmla="*/ 0 w 1145"/>
                <a:gd name="T57" fmla="*/ 392613 h 1145"/>
                <a:gd name="T58" fmla="*/ 0 w 1145"/>
                <a:gd name="T59" fmla="*/ 484452 h 1145"/>
                <a:gd name="T60" fmla="*/ 131108 w 1145"/>
                <a:gd name="T61" fmla="*/ 484452 h 1145"/>
                <a:gd name="T62" fmla="*/ 393324 w 1145"/>
                <a:gd name="T63" fmla="*/ 746194 h 1145"/>
                <a:gd name="T64" fmla="*/ 393324 w 1145"/>
                <a:gd name="T65" fmla="*/ 876300 h 1145"/>
                <a:gd name="T66" fmla="*/ 485330 w 1145"/>
                <a:gd name="T67" fmla="*/ 876300 h 1145"/>
                <a:gd name="T68" fmla="*/ 485330 w 1145"/>
                <a:gd name="T69" fmla="*/ 746194 h 1145"/>
                <a:gd name="T70" fmla="*/ 747546 w 1145"/>
                <a:gd name="T71" fmla="*/ 484452 h 1145"/>
                <a:gd name="T72" fmla="*/ 877887 w 1145"/>
                <a:gd name="T73" fmla="*/ 484452 h 1145"/>
                <a:gd name="T74" fmla="*/ 877887 w 1145"/>
                <a:gd name="T75" fmla="*/ 392613 h 1145"/>
                <a:gd name="T76" fmla="*/ 747546 w 1145"/>
                <a:gd name="T77" fmla="*/ 392613 h 114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145" h="1145">
                  <a:moveTo>
                    <a:pt x="573" y="426"/>
                  </a:moveTo>
                  <a:cubicBezTo>
                    <a:pt x="492" y="426"/>
                    <a:pt x="426" y="492"/>
                    <a:pt x="426" y="573"/>
                  </a:cubicBezTo>
                  <a:cubicBezTo>
                    <a:pt x="426" y="654"/>
                    <a:pt x="492" y="720"/>
                    <a:pt x="573" y="720"/>
                  </a:cubicBezTo>
                  <a:cubicBezTo>
                    <a:pt x="654" y="720"/>
                    <a:pt x="720" y="654"/>
                    <a:pt x="720" y="573"/>
                  </a:cubicBezTo>
                  <a:cubicBezTo>
                    <a:pt x="720" y="492"/>
                    <a:pt x="654" y="426"/>
                    <a:pt x="573" y="426"/>
                  </a:cubicBezTo>
                  <a:close/>
                  <a:moveTo>
                    <a:pt x="633" y="853"/>
                  </a:moveTo>
                  <a:lnTo>
                    <a:pt x="633" y="786"/>
                  </a:lnTo>
                  <a:lnTo>
                    <a:pt x="513" y="786"/>
                  </a:lnTo>
                  <a:lnTo>
                    <a:pt x="513" y="853"/>
                  </a:lnTo>
                  <a:cubicBezTo>
                    <a:pt x="403" y="829"/>
                    <a:pt x="316" y="743"/>
                    <a:pt x="293" y="633"/>
                  </a:cubicBezTo>
                  <a:lnTo>
                    <a:pt x="359" y="633"/>
                  </a:lnTo>
                  <a:lnTo>
                    <a:pt x="359" y="513"/>
                  </a:lnTo>
                  <a:lnTo>
                    <a:pt x="293" y="513"/>
                  </a:lnTo>
                  <a:cubicBezTo>
                    <a:pt x="316" y="403"/>
                    <a:pt x="403" y="316"/>
                    <a:pt x="513" y="293"/>
                  </a:cubicBezTo>
                  <a:lnTo>
                    <a:pt x="513" y="359"/>
                  </a:lnTo>
                  <a:lnTo>
                    <a:pt x="633" y="359"/>
                  </a:lnTo>
                  <a:lnTo>
                    <a:pt x="633" y="293"/>
                  </a:lnTo>
                  <a:cubicBezTo>
                    <a:pt x="743" y="316"/>
                    <a:pt x="830" y="403"/>
                    <a:pt x="853" y="513"/>
                  </a:cubicBezTo>
                  <a:lnTo>
                    <a:pt x="787" y="513"/>
                  </a:lnTo>
                  <a:lnTo>
                    <a:pt x="787" y="633"/>
                  </a:lnTo>
                  <a:lnTo>
                    <a:pt x="853" y="633"/>
                  </a:lnTo>
                  <a:cubicBezTo>
                    <a:pt x="830" y="743"/>
                    <a:pt x="743" y="829"/>
                    <a:pt x="633" y="853"/>
                  </a:cubicBezTo>
                  <a:close/>
                  <a:moveTo>
                    <a:pt x="975" y="513"/>
                  </a:moveTo>
                  <a:cubicBezTo>
                    <a:pt x="949" y="337"/>
                    <a:pt x="809" y="197"/>
                    <a:pt x="633" y="171"/>
                  </a:cubicBezTo>
                  <a:lnTo>
                    <a:pt x="633" y="0"/>
                  </a:lnTo>
                  <a:lnTo>
                    <a:pt x="513" y="0"/>
                  </a:lnTo>
                  <a:lnTo>
                    <a:pt x="513" y="171"/>
                  </a:lnTo>
                  <a:cubicBezTo>
                    <a:pt x="337" y="197"/>
                    <a:pt x="197" y="337"/>
                    <a:pt x="171" y="513"/>
                  </a:cubicBezTo>
                  <a:lnTo>
                    <a:pt x="0" y="513"/>
                  </a:lnTo>
                  <a:lnTo>
                    <a:pt x="0" y="633"/>
                  </a:lnTo>
                  <a:lnTo>
                    <a:pt x="171" y="633"/>
                  </a:lnTo>
                  <a:cubicBezTo>
                    <a:pt x="197" y="809"/>
                    <a:pt x="337" y="949"/>
                    <a:pt x="513" y="975"/>
                  </a:cubicBezTo>
                  <a:lnTo>
                    <a:pt x="513" y="1145"/>
                  </a:lnTo>
                  <a:lnTo>
                    <a:pt x="633" y="1145"/>
                  </a:lnTo>
                  <a:lnTo>
                    <a:pt x="633" y="975"/>
                  </a:lnTo>
                  <a:cubicBezTo>
                    <a:pt x="809" y="949"/>
                    <a:pt x="949" y="809"/>
                    <a:pt x="975" y="633"/>
                  </a:cubicBezTo>
                  <a:lnTo>
                    <a:pt x="1145" y="633"/>
                  </a:lnTo>
                  <a:lnTo>
                    <a:pt x="1145" y="513"/>
                  </a:lnTo>
                  <a:lnTo>
                    <a:pt x="975" y="513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9711352" y="351889"/>
            <a:ext cx="465708" cy="472063"/>
            <a:chOff x="10019977" y="-551766"/>
            <a:chExt cx="2093913" cy="2122488"/>
          </a:xfrm>
          <a:solidFill>
            <a:srgbClr val="0070C0"/>
          </a:solidFill>
        </p:grpSpPr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0910162" y="351889"/>
            <a:ext cx="465708" cy="472063"/>
            <a:chOff x="1342896" y="2366362"/>
            <a:chExt cx="2093913" cy="2122488"/>
          </a:xfrm>
          <a:solidFill>
            <a:srgbClr val="0070C0"/>
          </a:solidFill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1342896" y="2366362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767347" y="2753040"/>
              <a:ext cx="1311950" cy="1299916"/>
              <a:chOff x="4699000" y="4643438"/>
              <a:chExt cx="346075" cy="342900"/>
            </a:xfrm>
            <a:grpFill/>
          </p:grpSpPr>
          <p:sp>
            <p:nvSpPr>
              <p:cNvPr id="19" name="Freeform 20"/>
              <p:cNvSpPr>
                <a:spLocks noEditPoints="1"/>
              </p:cNvSpPr>
              <p:nvPr/>
            </p:nvSpPr>
            <p:spPr bwMode="auto">
              <a:xfrm>
                <a:off x="4894263" y="4841875"/>
                <a:ext cx="146050" cy="142875"/>
              </a:xfrm>
              <a:custGeom>
                <a:avLst/>
                <a:gdLst>
                  <a:gd name="T0" fmla="*/ 232 w 340"/>
                  <a:gd name="T1" fmla="*/ 183 h 333"/>
                  <a:gd name="T2" fmla="*/ 274 w 340"/>
                  <a:gd name="T3" fmla="*/ 224 h 333"/>
                  <a:gd name="T4" fmla="*/ 232 w 340"/>
                  <a:gd name="T5" fmla="*/ 266 h 333"/>
                  <a:gd name="T6" fmla="*/ 191 w 340"/>
                  <a:gd name="T7" fmla="*/ 224 h 333"/>
                  <a:gd name="T8" fmla="*/ 232 w 340"/>
                  <a:gd name="T9" fmla="*/ 183 h 333"/>
                  <a:gd name="T10" fmla="*/ 75 w 340"/>
                  <a:gd name="T11" fmla="*/ 3 h 333"/>
                  <a:gd name="T12" fmla="*/ 85 w 340"/>
                  <a:gd name="T13" fmla="*/ 24 h 333"/>
                  <a:gd name="T14" fmla="*/ 63 w 340"/>
                  <a:gd name="T15" fmla="*/ 46 h 333"/>
                  <a:gd name="T16" fmla="*/ 42 w 340"/>
                  <a:gd name="T17" fmla="*/ 67 h 333"/>
                  <a:gd name="T18" fmla="*/ 0 w 340"/>
                  <a:gd name="T19" fmla="*/ 94 h 333"/>
                  <a:gd name="T20" fmla="*/ 140 w 340"/>
                  <a:gd name="T21" fmla="*/ 235 h 333"/>
                  <a:gd name="T22" fmla="*/ 207 w 340"/>
                  <a:gd name="T23" fmla="*/ 324 h 333"/>
                  <a:gd name="T24" fmla="*/ 242 w 340"/>
                  <a:gd name="T25" fmla="*/ 333 h 333"/>
                  <a:gd name="T26" fmla="*/ 340 w 340"/>
                  <a:gd name="T27" fmla="*/ 235 h 333"/>
                  <a:gd name="T28" fmla="*/ 330 w 340"/>
                  <a:gd name="T29" fmla="*/ 199 h 333"/>
                  <a:gd name="T30" fmla="*/ 242 w 340"/>
                  <a:gd name="T31" fmla="*/ 133 h 333"/>
                  <a:gd name="T32" fmla="*/ 109 w 340"/>
                  <a:gd name="T33" fmla="*/ 0 h 333"/>
                  <a:gd name="T34" fmla="*/ 96 w 340"/>
                  <a:gd name="T35" fmla="*/ 13 h 333"/>
                  <a:gd name="T36" fmla="*/ 75 w 340"/>
                  <a:gd name="T37" fmla="*/ 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0" h="333">
                    <a:moveTo>
                      <a:pt x="232" y="183"/>
                    </a:moveTo>
                    <a:cubicBezTo>
                      <a:pt x="255" y="183"/>
                      <a:pt x="274" y="201"/>
                      <a:pt x="274" y="224"/>
                    </a:cubicBezTo>
                    <a:cubicBezTo>
                      <a:pt x="274" y="247"/>
                      <a:pt x="255" y="266"/>
                      <a:pt x="232" y="266"/>
                    </a:cubicBezTo>
                    <a:cubicBezTo>
                      <a:pt x="210" y="266"/>
                      <a:pt x="191" y="247"/>
                      <a:pt x="191" y="224"/>
                    </a:cubicBezTo>
                    <a:cubicBezTo>
                      <a:pt x="191" y="201"/>
                      <a:pt x="210" y="183"/>
                      <a:pt x="232" y="183"/>
                    </a:cubicBezTo>
                    <a:close/>
                    <a:moveTo>
                      <a:pt x="75" y="3"/>
                    </a:moveTo>
                    <a:lnTo>
                      <a:pt x="85" y="24"/>
                    </a:lnTo>
                    <a:lnTo>
                      <a:pt x="63" y="46"/>
                    </a:lnTo>
                    <a:lnTo>
                      <a:pt x="42" y="67"/>
                    </a:lnTo>
                    <a:cubicBezTo>
                      <a:pt x="30" y="79"/>
                      <a:pt x="15" y="88"/>
                      <a:pt x="0" y="94"/>
                    </a:cubicBezTo>
                    <a:lnTo>
                      <a:pt x="140" y="235"/>
                    </a:lnTo>
                    <a:lnTo>
                      <a:pt x="207" y="324"/>
                    </a:lnTo>
                    <a:lnTo>
                      <a:pt x="242" y="333"/>
                    </a:lnTo>
                    <a:lnTo>
                      <a:pt x="340" y="235"/>
                    </a:lnTo>
                    <a:lnTo>
                      <a:pt x="330" y="199"/>
                    </a:lnTo>
                    <a:lnTo>
                      <a:pt x="242" y="133"/>
                    </a:lnTo>
                    <a:lnTo>
                      <a:pt x="109" y="0"/>
                    </a:lnTo>
                    <a:lnTo>
                      <a:pt x="96" y="13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0" name="Freeform 21"/>
              <p:cNvSpPr/>
              <p:nvPr/>
            </p:nvSpPr>
            <p:spPr bwMode="auto">
              <a:xfrm>
                <a:off x="4699000" y="4643438"/>
                <a:ext cx="153987" cy="153988"/>
              </a:xfrm>
              <a:custGeom>
                <a:avLst/>
                <a:gdLst>
                  <a:gd name="T0" fmla="*/ 288 w 354"/>
                  <a:gd name="T1" fmla="*/ 281 h 355"/>
                  <a:gd name="T2" fmla="*/ 311 w 354"/>
                  <a:gd name="T3" fmla="*/ 258 h 355"/>
                  <a:gd name="T4" fmla="*/ 332 w 354"/>
                  <a:gd name="T5" fmla="*/ 269 h 355"/>
                  <a:gd name="T6" fmla="*/ 321 w 354"/>
                  <a:gd name="T7" fmla="*/ 248 h 355"/>
                  <a:gd name="T8" fmla="*/ 344 w 354"/>
                  <a:gd name="T9" fmla="*/ 225 h 355"/>
                  <a:gd name="T10" fmla="*/ 346 w 354"/>
                  <a:gd name="T11" fmla="*/ 223 h 355"/>
                  <a:gd name="T12" fmla="*/ 354 w 354"/>
                  <a:gd name="T13" fmla="*/ 185 h 355"/>
                  <a:gd name="T14" fmla="*/ 170 w 354"/>
                  <a:gd name="T15" fmla="*/ 1 h 355"/>
                  <a:gd name="T16" fmla="*/ 153 w 354"/>
                  <a:gd name="T17" fmla="*/ 17 h 355"/>
                  <a:gd name="T18" fmla="*/ 222 w 354"/>
                  <a:gd name="T19" fmla="*/ 127 h 355"/>
                  <a:gd name="T20" fmla="*/ 126 w 354"/>
                  <a:gd name="T21" fmla="*/ 223 h 355"/>
                  <a:gd name="T22" fmla="*/ 16 w 354"/>
                  <a:gd name="T23" fmla="*/ 154 h 355"/>
                  <a:gd name="T24" fmla="*/ 0 w 354"/>
                  <a:gd name="T25" fmla="*/ 171 h 355"/>
                  <a:gd name="T26" fmla="*/ 184 w 354"/>
                  <a:gd name="T27" fmla="*/ 355 h 355"/>
                  <a:gd name="T28" fmla="*/ 237 w 354"/>
                  <a:gd name="T29" fmla="*/ 340 h 355"/>
                  <a:gd name="T30" fmla="*/ 240 w 354"/>
                  <a:gd name="T31" fmla="*/ 344 h 355"/>
                  <a:gd name="T32" fmla="*/ 268 w 354"/>
                  <a:gd name="T33" fmla="*/ 301 h 355"/>
                  <a:gd name="T34" fmla="*/ 288 w 354"/>
                  <a:gd name="T35" fmla="*/ 281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4" h="355">
                    <a:moveTo>
                      <a:pt x="288" y="281"/>
                    </a:moveTo>
                    <a:lnTo>
                      <a:pt x="311" y="258"/>
                    </a:lnTo>
                    <a:lnTo>
                      <a:pt x="332" y="269"/>
                    </a:lnTo>
                    <a:lnTo>
                      <a:pt x="321" y="248"/>
                    </a:lnTo>
                    <a:lnTo>
                      <a:pt x="344" y="225"/>
                    </a:lnTo>
                    <a:lnTo>
                      <a:pt x="346" y="223"/>
                    </a:lnTo>
                    <a:cubicBezTo>
                      <a:pt x="351" y="210"/>
                      <a:pt x="354" y="197"/>
                      <a:pt x="354" y="185"/>
                    </a:cubicBezTo>
                    <a:cubicBezTo>
                      <a:pt x="354" y="91"/>
                      <a:pt x="264" y="0"/>
                      <a:pt x="170" y="1"/>
                    </a:cubicBezTo>
                    <a:cubicBezTo>
                      <a:pt x="170" y="1"/>
                      <a:pt x="159" y="11"/>
                      <a:pt x="153" y="17"/>
                    </a:cubicBezTo>
                    <a:cubicBezTo>
                      <a:pt x="229" y="93"/>
                      <a:pt x="222" y="80"/>
                      <a:pt x="222" y="127"/>
                    </a:cubicBezTo>
                    <a:cubicBezTo>
                      <a:pt x="222" y="164"/>
                      <a:pt x="162" y="223"/>
                      <a:pt x="126" y="223"/>
                    </a:cubicBezTo>
                    <a:cubicBezTo>
                      <a:pt x="78" y="223"/>
                      <a:pt x="93" y="231"/>
                      <a:pt x="16" y="154"/>
                    </a:cubicBezTo>
                    <a:cubicBezTo>
                      <a:pt x="10" y="160"/>
                      <a:pt x="0" y="171"/>
                      <a:pt x="0" y="171"/>
                    </a:cubicBezTo>
                    <a:cubicBezTo>
                      <a:pt x="1" y="265"/>
                      <a:pt x="90" y="355"/>
                      <a:pt x="184" y="355"/>
                    </a:cubicBezTo>
                    <a:cubicBezTo>
                      <a:pt x="201" y="355"/>
                      <a:pt x="219" y="349"/>
                      <a:pt x="237" y="340"/>
                    </a:cubicBezTo>
                    <a:lnTo>
                      <a:pt x="240" y="344"/>
                    </a:lnTo>
                    <a:cubicBezTo>
                      <a:pt x="246" y="328"/>
                      <a:pt x="255" y="314"/>
                      <a:pt x="268" y="301"/>
                    </a:cubicBezTo>
                    <a:lnTo>
                      <a:pt x="288" y="281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1" name="Freeform 22"/>
              <p:cNvSpPr/>
              <p:nvPr/>
            </p:nvSpPr>
            <p:spPr bwMode="auto">
              <a:xfrm>
                <a:off x="4699000" y="4643438"/>
                <a:ext cx="346075" cy="342900"/>
              </a:xfrm>
              <a:custGeom>
                <a:avLst/>
                <a:gdLst>
                  <a:gd name="T0" fmla="*/ 771 w 800"/>
                  <a:gd name="T1" fmla="*/ 76 h 791"/>
                  <a:gd name="T2" fmla="*/ 716 w 800"/>
                  <a:gd name="T3" fmla="*/ 22 h 791"/>
                  <a:gd name="T4" fmla="*/ 663 w 800"/>
                  <a:gd name="T5" fmla="*/ 0 h 791"/>
                  <a:gd name="T6" fmla="*/ 610 w 800"/>
                  <a:gd name="T7" fmla="*/ 22 h 791"/>
                  <a:gd name="T8" fmla="*/ 376 w 800"/>
                  <a:gd name="T9" fmla="*/ 256 h 791"/>
                  <a:gd name="T10" fmla="*/ 366 w 800"/>
                  <a:gd name="T11" fmla="*/ 302 h 791"/>
                  <a:gd name="T12" fmla="*/ 335 w 800"/>
                  <a:gd name="T13" fmla="*/ 315 h 791"/>
                  <a:gd name="T14" fmla="*/ 320 w 800"/>
                  <a:gd name="T15" fmla="*/ 312 h 791"/>
                  <a:gd name="T16" fmla="*/ 300 w 800"/>
                  <a:gd name="T17" fmla="*/ 332 h 791"/>
                  <a:gd name="T18" fmla="*/ 300 w 800"/>
                  <a:gd name="T19" fmla="*/ 438 h 791"/>
                  <a:gd name="T20" fmla="*/ 303 w 800"/>
                  <a:gd name="T21" fmla="*/ 442 h 791"/>
                  <a:gd name="T22" fmla="*/ 120 w 800"/>
                  <a:gd name="T23" fmla="*/ 625 h 791"/>
                  <a:gd name="T24" fmla="*/ 72 w 800"/>
                  <a:gd name="T25" fmla="*/ 643 h 791"/>
                  <a:gd name="T26" fmla="*/ 0 w 800"/>
                  <a:gd name="T27" fmla="*/ 745 h 791"/>
                  <a:gd name="T28" fmla="*/ 46 w 800"/>
                  <a:gd name="T29" fmla="*/ 791 h 791"/>
                  <a:gd name="T30" fmla="*/ 148 w 800"/>
                  <a:gd name="T31" fmla="*/ 720 h 791"/>
                  <a:gd name="T32" fmla="*/ 166 w 800"/>
                  <a:gd name="T33" fmla="*/ 670 h 791"/>
                  <a:gd name="T34" fmla="*/ 349 w 800"/>
                  <a:gd name="T35" fmla="*/ 487 h 791"/>
                  <a:gd name="T36" fmla="*/ 355 w 800"/>
                  <a:gd name="T37" fmla="*/ 493 h 791"/>
                  <a:gd name="T38" fmla="*/ 407 w 800"/>
                  <a:gd name="T39" fmla="*/ 515 h 791"/>
                  <a:gd name="T40" fmla="*/ 460 w 800"/>
                  <a:gd name="T41" fmla="*/ 493 h 791"/>
                  <a:gd name="T42" fmla="*/ 481 w 800"/>
                  <a:gd name="T43" fmla="*/ 472 h 791"/>
                  <a:gd name="T44" fmla="*/ 490 w 800"/>
                  <a:gd name="T45" fmla="*/ 426 h 791"/>
                  <a:gd name="T46" fmla="*/ 522 w 800"/>
                  <a:gd name="T47" fmla="*/ 414 h 791"/>
                  <a:gd name="T48" fmla="*/ 536 w 800"/>
                  <a:gd name="T49" fmla="*/ 417 h 791"/>
                  <a:gd name="T50" fmla="*/ 771 w 800"/>
                  <a:gd name="T51" fmla="*/ 182 h 791"/>
                  <a:gd name="T52" fmla="*/ 771 w 800"/>
                  <a:gd name="T53" fmla="*/ 7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0" h="791">
                    <a:moveTo>
                      <a:pt x="771" y="76"/>
                    </a:moveTo>
                    <a:lnTo>
                      <a:pt x="716" y="22"/>
                    </a:lnTo>
                    <a:cubicBezTo>
                      <a:pt x="701" y="7"/>
                      <a:pt x="682" y="0"/>
                      <a:pt x="663" y="0"/>
                    </a:cubicBezTo>
                    <a:cubicBezTo>
                      <a:pt x="644" y="0"/>
                      <a:pt x="625" y="7"/>
                      <a:pt x="610" y="22"/>
                    </a:cubicBezTo>
                    <a:lnTo>
                      <a:pt x="376" y="256"/>
                    </a:lnTo>
                    <a:cubicBezTo>
                      <a:pt x="383" y="270"/>
                      <a:pt x="378" y="291"/>
                      <a:pt x="366" y="302"/>
                    </a:cubicBezTo>
                    <a:cubicBezTo>
                      <a:pt x="359" y="310"/>
                      <a:pt x="346" y="315"/>
                      <a:pt x="335" y="315"/>
                    </a:cubicBezTo>
                    <a:cubicBezTo>
                      <a:pt x="330" y="315"/>
                      <a:pt x="325" y="314"/>
                      <a:pt x="320" y="312"/>
                    </a:cubicBezTo>
                    <a:lnTo>
                      <a:pt x="300" y="332"/>
                    </a:lnTo>
                    <a:cubicBezTo>
                      <a:pt x="271" y="361"/>
                      <a:pt x="271" y="409"/>
                      <a:pt x="300" y="438"/>
                    </a:cubicBezTo>
                    <a:lnTo>
                      <a:pt x="303" y="442"/>
                    </a:lnTo>
                    <a:lnTo>
                      <a:pt x="120" y="625"/>
                    </a:lnTo>
                    <a:lnTo>
                      <a:pt x="72" y="643"/>
                    </a:lnTo>
                    <a:lnTo>
                      <a:pt x="0" y="745"/>
                    </a:lnTo>
                    <a:lnTo>
                      <a:pt x="46" y="791"/>
                    </a:lnTo>
                    <a:lnTo>
                      <a:pt x="148" y="720"/>
                    </a:lnTo>
                    <a:lnTo>
                      <a:pt x="166" y="670"/>
                    </a:lnTo>
                    <a:lnTo>
                      <a:pt x="349" y="487"/>
                    </a:lnTo>
                    <a:lnTo>
                      <a:pt x="355" y="493"/>
                    </a:lnTo>
                    <a:cubicBezTo>
                      <a:pt x="369" y="507"/>
                      <a:pt x="388" y="515"/>
                      <a:pt x="407" y="515"/>
                    </a:cubicBezTo>
                    <a:cubicBezTo>
                      <a:pt x="426" y="515"/>
                      <a:pt x="446" y="507"/>
                      <a:pt x="460" y="493"/>
                    </a:cubicBezTo>
                    <a:lnTo>
                      <a:pt x="481" y="472"/>
                    </a:lnTo>
                    <a:cubicBezTo>
                      <a:pt x="474" y="458"/>
                      <a:pt x="479" y="437"/>
                      <a:pt x="490" y="426"/>
                    </a:cubicBezTo>
                    <a:cubicBezTo>
                      <a:pt x="498" y="419"/>
                      <a:pt x="510" y="414"/>
                      <a:pt x="522" y="414"/>
                    </a:cubicBezTo>
                    <a:cubicBezTo>
                      <a:pt x="527" y="414"/>
                      <a:pt x="532" y="415"/>
                      <a:pt x="536" y="417"/>
                    </a:cubicBezTo>
                    <a:lnTo>
                      <a:pt x="771" y="182"/>
                    </a:lnTo>
                    <a:cubicBezTo>
                      <a:pt x="800" y="153"/>
                      <a:pt x="800" y="106"/>
                      <a:pt x="771" y="7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22" name="组合 21"/>
          <p:cNvGrpSpPr/>
          <p:nvPr userDrawn="1"/>
        </p:nvGrpSpPr>
        <p:grpSpPr>
          <a:xfrm>
            <a:off x="11501159" y="351889"/>
            <a:ext cx="465708" cy="472063"/>
            <a:chOff x="4910385" y="-2248866"/>
            <a:chExt cx="2093913" cy="2122488"/>
          </a:xfrm>
          <a:solidFill>
            <a:srgbClr val="0070C0"/>
          </a:solidFill>
        </p:grpSpPr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sp>
        <p:nvSpPr>
          <p:cNvPr id="26" name="矩形 25"/>
          <p:cNvSpPr/>
          <p:nvPr userDrawn="1"/>
        </p:nvSpPr>
        <p:spPr>
          <a:xfrm>
            <a:off x="1" y="3111689"/>
            <a:ext cx="368490" cy="1924335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87628" y="196812"/>
            <a:ext cx="3572314" cy="866846"/>
            <a:chOff x="583188" y="474517"/>
            <a:chExt cx="4358865" cy="1057708"/>
          </a:xfrm>
        </p:grpSpPr>
        <p:pic>
          <p:nvPicPr>
            <p:cNvPr id="31" name="图片 30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188" y="474517"/>
              <a:ext cx="1029183" cy="1057708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34" name="矩形 33"/>
            <p:cNvSpPr/>
            <p:nvPr userDrawn="1"/>
          </p:nvSpPr>
          <p:spPr>
            <a:xfrm>
              <a:off x="1700548" y="1241379"/>
              <a:ext cx="3241505" cy="2816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  <a:endParaRPr lang="zh-CN" altLang="en-US" sz="900" b="1" kern="100" spc="-80" baseline="0" dirty="0">
                <a:solidFill>
                  <a:srgbClr val="3645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5"/>
          <a:stretch>
            <a:fillRect/>
          </a:stretch>
        </p:blipFill>
        <p:spPr>
          <a:xfrm>
            <a:off x="6972301" y="1725722"/>
            <a:ext cx="5219700" cy="35413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 userDrawn="1"/>
        </p:nvSpPr>
        <p:spPr>
          <a:xfrm>
            <a:off x="0" y="1846666"/>
            <a:ext cx="4038600" cy="4258349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</a:fld>
            <a:endParaRPr lang="zh-CN" altLang="en-US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0" y="696036"/>
            <a:ext cx="1473958" cy="573206"/>
            <a:chOff x="0" y="696036"/>
            <a:chExt cx="1473958" cy="573206"/>
          </a:xfrm>
        </p:grpSpPr>
        <p:sp>
          <p:nvSpPr>
            <p:cNvPr id="21" name="矩形 20"/>
            <p:cNvSpPr/>
            <p:nvPr/>
          </p:nvSpPr>
          <p:spPr>
            <a:xfrm>
              <a:off x="0" y="696036"/>
              <a:ext cx="1473958" cy="573206"/>
            </a:xfrm>
            <a:prstGeom prst="rect">
              <a:avLst/>
            </a:prstGeom>
            <a:solidFill>
              <a:srgbClr val="17406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4591" y="751806"/>
              <a:ext cx="1078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</a:rPr>
                <a:t>目 录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23" name="文本框 22"/>
          <p:cNvSpPr txBox="1"/>
          <p:nvPr userDrawn="1"/>
        </p:nvSpPr>
        <p:spPr>
          <a:xfrm>
            <a:off x="1528549" y="696036"/>
            <a:ext cx="25657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7406D"/>
                </a:solidFill>
                <a:latin typeface="Impact" panose="020B0806030902050204" pitchFamily="34" charset="0"/>
                <a:ea typeface="微软雅黑" panose="020B0503020204020204" charset="-122"/>
              </a:rPr>
              <a:t>C</a:t>
            </a:r>
            <a:r>
              <a:rPr lang="en-US" altLang="zh-CN" sz="2000" b="1" dirty="0">
                <a:solidFill>
                  <a:srgbClr val="17406D"/>
                </a:solidFill>
                <a:latin typeface="Impact" panose="020B0806030902050204" pitchFamily="34" charset="0"/>
                <a:ea typeface="微软雅黑" panose="020B0503020204020204" charset="-122"/>
              </a:rPr>
              <a:t>ONTENT</a:t>
            </a:r>
            <a:endParaRPr lang="zh-CN" altLang="en-US" sz="2000" b="1" dirty="0">
              <a:solidFill>
                <a:srgbClr val="17406D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 userDrawn="1"/>
        </p:nvSpPr>
        <p:spPr>
          <a:xfrm>
            <a:off x="4038600" y="1846666"/>
            <a:ext cx="8153400" cy="425834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0091" y="670367"/>
            <a:ext cx="2506719" cy="624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</a:fld>
            <a:endParaRPr lang="zh-CN" altLang="en-US"/>
          </a:p>
        </p:txBody>
      </p:sp>
      <p:sp>
        <p:nvSpPr>
          <p:cNvPr id="35" name="Freeform 6"/>
          <p:cNvSpPr>
            <a:spLocks noEditPoints="1"/>
          </p:cNvSpPr>
          <p:nvPr/>
        </p:nvSpPr>
        <p:spPr bwMode="auto">
          <a:xfrm>
            <a:off x="1315265" y="2644042"/>
            <a:ext cx="2344915" cy="2222446"/>
          </a:xfrm>
          <a:custGeom>
            <a:avLst/>
            <a:gdLst>
              <a:gd name="T0" fmla="*/ 1391 w 2783"/>
              <a:gd name="T1" fmla="*/ 0 h 2783"/>
              <a:gd name="T2" fmla="*/ 0 w 2783"/>
              <a:gd name="T3" fmla="*/ 1391 h 2783"/>
              <a:gd name="T4" fmla="*/ 1391 w 2783"/>
              <a:gd name="T5" fmla="*/ 2783 h 2783"/>
              <a:gd name="T6" fmla="*/ 2783 w 2783"/>
              <a:gd name="T7" fmla="*/ 1391 h 2783"/>
              <a:gd name="T8" fmla="*/ 1391 w 2783"/>
              <a:gd name="T9" fmla="*/ 0 h 2783"/>
              <a:gd name="T10" fmla="*/ 1391 w 2783"/>
              <a:gd name="T11" fmla="*/ 55 h 2783"/>
              <a:gd name="T12" fmla="*/ 55 w 2783"/>
              <a:gd name="T13" fmla="*/ 1391 h 2783"/>
              <a:gd name="T14" fmla="*/ 1391 w 2783"/>
              <a:gd name="T15" fmla="*/ 2728 h 2783"/>
              <a:gd name="T16" fmla="*/ 2728 w 2783"/>
              <a:gd name="T17" fmla="*/ 1391 h 2783"/>
              <a:gd name="T18" fmla="*/ 1391 w 2783"/>
              <a:gd name="T19" fmla="*/ 55 h 2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83" h="2783">
                <a:moveTo>
                  <a:pt x="1391" y="0"/>
                </a:moveTo>
                <a:cubicBezTo>
                  <a:pt x="623" y="0"/>
                  <a:pt x="0" y="623"/>
                  <a:pt x="0" y="1391"/>
                </a:cubicBezTo>
                <a:cubicBezTo>
                  <a:pt x="0" y="2160"/>
                  <a:pt x="623" y="2783"/>
                  <a:pt x="1391" y="2783"/>
                </a:cubicBezTo>
                <a:cubicBezTo>
                  <a:pt x="2160" y="2783"/>
                  <a:pt x="2783" y="2160"/>
                  <a:pt x="2783" y="1391"/>
                </a:cubicBezTo>
                <a:cubicBezTo>
                  <a:pt x="2783" y="623"/>
                  <a:pt x="2160" y="0"/>
                  <a:pt x="1391" y="0"/>
                </a:cubicBezTo>
                <a:close/>
                <a:moveTo>
                  <a:pt x="1391" y="55"/>
                </a:moveTo>
                <a:cubicBezTo>
                  <a:pt x="654" y="55"/>
                  <a:pt x="55" y="654"/>
                  <a:pt x="55" y="1391"/>
                </a:cubicBezTo>
                <a:cubicBezTo>
                  <a:pt x="55" y="2129"/>
                  <a:pt x="654" y="2728"/>
                  <a:pt x="1391" y="2728"/>
                </a:cubicBezTo>
                <a:cubicBezTo>
                  <a:pt x="2129" y="2728"/>
                  <a:pt x="2728" y="2129"/>
                  <a:pt x="2728" y="1391"/>
                </a:cubicBezTo>
                <a:cubicBezTo>
                  <a:pt x="2728" y="654"/>
                  <a:pt x="2129" y="55"/>
                  <a:pt x="1391" y="55"/>
                </a:cubicBezTo>
                <a:close/>
              </a:path>
            </a:pathLst>
          </a:custGeom>
          <a:solidFill>
            <a:srgbClr val="0070C0"/>
          </a:solidFill>
          <a:ln>
            <a:solidFill>
              <a:srgbClr val="00206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1597271" y="312405"/>
            <a:ext cx="2656580" cy="854799"/>
            <a:chOff x="1700548" y="480028"/>
            <a:chExt cx="3241505" cy="1043007"/>
          </a:xfrm>
        </p:grpSpPr>
        <p:pic>
          <p:nvPicPr>
            <p:cNvPr id="39" name="图片 3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40" name="矩形 39"/>
            <p:cNvSpPr/>
            <p:nvPr userDrawn="1"/>
          </p:nvSpPr>
          <p:spPr>
            <a:xfrm>
              <a:off x="1700548" y="1241379"/>
              <a:ext cx="3241505" cy="281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  <a:endParaRPr lang="zh-CN" altLang="en-US" sz="900" b="1" kern="100" spc="-80" baseline="0" dirty="0">
                <a:solidFill>
                  <a:srgbClr val="3645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533279" y="251113"/>
            <a:ext cx="977385" cy="977385"/>
            <a:chOff x="6725180" y="763885"/>
            <a:chExt cx="674999" cy="674999"/>
          </a:xfrm>
          <a:solidFill>
            <a:srgbClr val="17406D"/>
          </a:solidFill>
        </p:grpSpPr>
        <p:sp>
          <p:nvSpPr>
            <p:cNvPr id="49" name="椭圆 48"/>
            <p:cNvSpPr/>
            <p:nvPr/>
          </p:nvSpPr>
          <p:spPr>
            <a:xfrm>
              <a:off x="6725180" y="763885"/>
              <a:ext cx="674999" cy="67499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6889470" y="927651"/>
              <a:ext cx="223363" cy="223363"/>
            </a:xfrm>
            <a:prstGeom prst="rect">
              <a:avLst/>
            </a:pr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7041870" y="1080051"/>
              <a:ext cx="223363" cy="223363"/>
            </a:xfrm>
            <a:prstGeom prst="rect">
              <a:avLst/>
            </a:pr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</a:fld>
            <a:endParaRPr lang="zh-CN" altLang="en-US"/>
          </a:p>
        </p:txBody>
      </p:sp>
      <p:cxnSp>
        <p:nvCxnSpPr>
          <p:cNvPr id="303" name="直接连接符 302"/>
          <p:cNvCxnSpPr/>
          <p:nvPr userDrawn="1"/>
        </p:nvCxnSpPr>
        <p:spPr>
          <a:xfrm>
            <a:off x="2676524" y="1780912"/>
            <a:ext cx="0" cy="4476466"/>
          </a:xfrm>
          <a:prstGeom prst="line">
            <a:avLst/>
          </a:prstGeom>
          <a:noFill/>
          <a:ln w="6350" cap="flat" cmpd="sng" algn="ctr">
            <a:solidFill>
              <a:srgbClr val="0F6FC6"/>
            </a:solidFill>
            <a:prstDash val="solid"/>
            <a:miter lim="800000"/>
          </a:ln>
          <a:effectLst/>
        </p:spPr>
      </p:cxnSp>
      <p:sp>
        <p:nvSpPr>
          <p:cNvPr id="305" name="矩形 304"/>
          <p:cNvSpPr/>
          <p:nvPr userDrawn="1"/>
        </p:nvSpPr>
        <p:spPr>
          <a:xfrm>
            <a:off x="0" y="0"/>
            <a:ext cx="12192000" cy="1119117"/>
          </a:xfrm>
          <a:prstGeom prst="rect">
            <a:avLst/>
          </a:prstGeom>
          <a:solidFill>
            <a:srgbClr val="0F6F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306" name="矩形 305"/>
          <p:cNvSpPr/>
          <p:nvPr userDrawn="1"/>
        </p:nvSpPr>
        <p:spPr>
          <a:xfrm>
            <a:off x="1180530" y="1"/>
            <a:ext cx="1119117" cy="1470726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307" name="直角三角形 306"/>
          <p:cNvSpPr/>
          <p:nvPr userDrawn="1"/>
        </p:nvSpPr>
        <p:spPr>
          <a:xfrm rot="5400000">
            <a:off x="2312279" y="1106484"/>
            <a:ext cx="351612" cy="376878"/>
          </a:xfrm>
          <a:prstGeom prst="rtTriangle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pic>
        <p:nvPicPr>
          <p:cNvPr id="10" name="Picture 4" descr="未标题-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644" y="472686"/>
            <a:ext cx="2009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4957" y="728592"/>
            <a:ext cx="2292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17406D"/>
                </a:solidFill>
                <a:latin typeface="Calibri" panose="020F0502020204030204"/>
                <a:ea typeface="微软雅黑" panose="020B0503020204020204" charset="-122"/>
              </a:rPr>
              <a:t>参考文献</a:t>
            </a:r>
            <a:endParaRPr lang="zh-CN" altLang="en-US" sz="3600" b="1" dirty="0">
              <a:solidFill>
                <a:srgbClr val="17406D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duotone>
              <a:srgbClr val="0F6F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16" y="549495"/>
            <a:ext cx="719341" cy="720000"/>
          </a:xfrm>
          <a:prstGeom prst="rect">
            <a:avLst/>
          </a:prstGeom>
          <a:noFill/>
        </p:spPr>
      </p:pic>
      <p:sp>
        <p:nvSpPr>
          <p:cNvPr id="15" name="矩形 14"/>
          <p:cNvSpPr/>
          <p:nvPr userDrawn="1"/>
        </p:nvSpPr>
        <p:spPr>
          <a:xfrm>
            <a:off x="3098476" y="1246972"/>
            <a:ext cx="9093524" cy="45719"/>
          </a:xfrm>
          <a:prstGeom prst="rect">
            <a:avLst/>
          </a:prstGeom>
          <a:solidFill>
            <a:srgbClr val="0F6F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17406D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8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35B7C-9CA1-4257-8EBB-4A49DF3185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C7477-D746-4D99-BFA2-807D366EBA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7672" y="2857688"/>
            <a:ext cx="7042244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17406D"/>
                </a:solidFill>
                <a:latin typeface="微软雅黑" panose="020B0503020204020204" charset="-122"/>
                <a:ea typeface="微软雅黑" panose="020B0503020204020204" charset="-122"/>
              </a:rPr>
              <a:t>基于视觉识别技术的水面垃圾自动清理机器人设计</a:t>
            </a:r>
            <a:endParaRPr lang="zh-CN" altLang="en-US" sz="2800" dirty="0">
              <a:solidFill>
                <a:srgbClr val="1740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7672" y="3881129"/>
            <a:ext cx="6791324" cy="52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7672" y="4004239"/>
            <a:ext cx="679132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本次答辩的重点是水面垃圾自动清理机器人的整体框架</a:t>
            </a:r>
            <a:endParaRPr lang="zh-CN" altLang="en-US" sz="1500" b="1" dirty="0">
              <a:solidFill>
                <a:srgbClr val="000000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7672" y="2918961"/>
            <a:ext cx="10656725" cy="3193431"/>
            <a:chOff x="477672" y="2918961"/>
            <a:chExt cx="10656725" cy="3193431"/>
          </a:xfrm>
          <a:noFill/>
        </p:grpSpPr>
        <p:sp>
          <p:nvSpPr>
            <p:cNvPr id="8" name="矩形 7"/>
            <p:cNvSpPr/>
            <p:nvPr/>
          </p:nvSpPr>
          <p:spPr>
            <a:xfrm>
              <a:off x="7468449" y="2918961"/>
              <a:ext cx="3665948" cy="19243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77672" y="5190372"/>
              <a:ext cx="3643952" cy="9220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汇报人：陈功力</a:t>
              </a:r>
              <a:endParaRPr lang="en-US" altLang="zh-CN" dirty="0">
                <a:solidFill>
                  <a:srgbClr val="3645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2022</a:t>
              </a:r>
              <a:r>
                <a:rPr lang="zh-CN" altLang="en-US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lang="en-US" altLang="zh-CN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12</a:t>
              </a:r>
              <a:r>
                <a:rPr lang="zh-CN" altLang="en-US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lang="en-US" altLang="zh-CN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en-US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lang="zh-CN" altLang="en-US" dirty="0">
                <a:solidFill>
                  <a:srgbClr val="3645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6979" y="2038295"/>
            <a:ext cx="2292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01 /   </a:t>
            </a:r>
            <a:r>
              <a:rPr lang="zh-CN" altLang="en-US" sz="2400" b="1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研究背景</a:t>
            </a:r>
            <a:endParaRPr lang="zh-CN" altLang="en-US" sz="2400" b="1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6980" y="2853309"/>
            <a:ext cx="2292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02 /</a:t>
            </a:r>
            <a:r>
              <a:rPr lang="en-US" altLang="zh-CN" sz="3200" baseline="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  </a:t>
            </a:r>
            <a:r>
              <a:rPr lang="zh-CN" altLang="en-US" sz="2400" b="1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研究内容</a:t>
            </a:r>
            <a:endParaRPr lang="zh-CN" altLang="en-US" sz="2400" b="1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6970" y="3672656"/>
            <a:ext cx="229282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03</a:t>
            </a:r>
            <a:r>
              <a:rPr lang="en-US" altLang="zh-CN" sz="28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/  </a:t>
            </a:r>
            <a:r>
              <a:rPr lang="zh-CN" altLang="en-US" sz="2400" b="1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研究展望</a:t>
            </a:r>
            <a:endParaRPr lang="zh-CN" altLang="en-US" sz="2400" b="1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2612462" y="442936"/>
            <a:ext cx="3579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研究背景</a:t>
            </a:r>
            <a:endParaRPr lang="zh-CN" altLang="en-US" sz="3200" b="1" dirty="0">
              <a:solidFill>
                <a:prstClr val="white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493345" y="316566"/>
            <a:ext cx="493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prstClr val="white"/>
                </a:solidFill>
                <a:latin typeface="Impact" panose="020B0806030902050204" pitchFamily="34" charset="0"/>
                <a:ea typeface="微软雅黑" panose="020B0503020204020204" charset="-122"/>
              </a:rPr>
              <a:t>1</a:t>
            </a:r>
            <a:endParaRPr lang="zh-CN" altLang="en-US" sz="4400" dirty="0">
              <a:solidFill>
                <a:prstClr val="white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61" name="Freeform 7"/>
          <p:cNvSpPr>
            <a:spLocks noEditPoints="1"/>
          </p:cNvSpPr>
          <p:nvPr/>
        </p:nvSpPr>
        <p:spPr bwMode="auto">
          <a:xfrm>
            <a:off x="463283" y="2026245"/>
            <a:ext cx="1523573" cy="1718780"/>
          </a:xfrm>
          <a:custGeom>
            <a:avLst/>
            <a:gdLst>
              <a:gd name="T0" fmla="*/ 870 w 1809"/>
              <a:gd name="T1" fmla="*/ 879 h 2152"/>
              <a:gd name="T2" fmla="*/ 870 w 1809"/>
              <a:gd name="T3" fmla="*/ 2152 h 2152"/>
              <a:gd name="T4" fmla="*/ 1809 w 1809"/>
              <a:gd name="T5" fmla="*/ 1820 h 2152"/>
              <a:gd name="T6" fmla="*/ 1809 w 1809"/>
              <a:gd name="T7" fmla="*/ 547 h 2152"/>
              <a:gd name="T8" fmla="*/ 870 w 1809"/>
              <a:gd name="T9" fmla="*/ 879 h 2152"/>
              <a:gd name="T10" fmla="*/ 785 w 1809"/>
              <a:gd name="T11" fmla="*/ 961 h 2152"/>
              <a:gd name="T12" fmla="*/ 785 w 1809"/>
              <a:gd name="T13" fmla="*/ 1138 h 2152"/>
              <a:gd name="T14" fmla="*/ 613 w 1809"/>
              <a:gd name="T15" fmla="*/ 1053 h 2152"/>
              <a:gd name="T16" fmla="*/ 613 w 1809"/>
              <a:gd name="T17" fmla="*/ 864 h 2152"/>
              <a:gd name="T18" fmla="*/ 785 w 1809"/>
              <a:gd name="T19" fmla="*/ 961 h 2152"/>
              <a:gd name="T20" fmla="*/ 1555 w 1809"/>
              <a:gd name="T21" fmla="*/ 410 h 2152"/>
              <a:gd name="T22" fmla="*/ 1507 w 1809"/>
              <a:gd name="T23" fmla="*/ 386 h 2152"/>
              <a:gd name="T24" fmla="*/ 602 w 1809"/>
              <a:gd name="T25" fmla="*/ 700 h 2152"/>
              <a:gd name="T26" fmla="*/ 576 w 1809"/>
              <a:gd name="T27" fmla="*/ 724 h 2152"/>
              <a:gd name="T28" fmla="*/ 576 w 1809"/>
              <a:gd name="T29" fmla="*/ 2017 h 2152"/>
              <a:gd name="T30" fmla="*/ 822 w 1809"/>
              <a:gd name="T31" fmla="*/ 2149 h 2152"/>
              <a:gd name="T32" fmla="*/ 822 w 1809"/>
              <a:gd name="T33" fmla="*/ 879 h 2152"/>
              <a:gd name="T34" fmla="*/ 622 w 1809"/>
              <a:gd name="T35" fmla="*/ 772 h 2152"/>
              <a:gd name="T36" fmla="*/ 625 w 1809"/>
              <a:gd name="T37" fmla="*/ 772 h 2152"/>
              <a:gd name="T38" fmla="*/ 1531 w 1809"/>
              <a:gd name="T39" fmla="*/ 457 h 2152"/>
              <a:gd name="T40" fmla="*/ 1555 w 1809"/>
              <a:gd name="T41" fmla="*/ 410 h 2152"/>
              <a:gd name="T42" fmla="*/ 209 w 1809"/>
              <a:gd name="T43" fmla="*/ 581 h 2152"/>
              <a:gd name="T44" fmla="*/ 209 w 1809"/>
              <a:gd name="T45" fmla="*/ 758 h 2152"/>
              <a:gd name="T46" fmla="*/ 37 w 1809"/>
              <a:gd name="T47" fmla="*/ 673 h 2152"/>
              <a:gd name="T48" fmla="*/ 37 w 1809"/>
              <a:gd name="T49" fmla="*/ 484 h 2152"/>
              <a:gd name="T50" fmla="*/ 209 w 1809"/>
              <a:gd name="T51" fmla="*/ 581 h 2152"/>
              <a:gd name="T52" fmla="*/ 978 w 1809"/>
              <a:gd name="T53" fmla="*/ 30 h 2152"/>
              <a:gd name="T54" fmla="*/ 931 w 1809"/>
              <a:gd name="T55" fmla="*/ 6 h 2152"/>
              <a:gd name="T56" fmla="*/ 25 w 1809"/>
              <a:gd name="T57" fmla="*/ 321 h 2152"/>
              <a:gd name="T58" fmla="*/ 0 w 1809"/>
              <a:gd name="T59" fmla="*/ 344 h 2152"/>
              <a:gd name="T60" fmla="*/ 0 w 1809"/>
              <a:gd name="T61" fmla="*/ 1638 h 2152"/>
              <a:gd name="T62" fmla="*/ 246 w 1809"/>
              <a:gd name="T63" fmla="*/ 1770 h 2152"/>
              <a:gd name="T64" fmla="*/ 246 w 1809"/>
              <a:gd name="T65" fmla="*/ 500 h 2152"/>
              <a:gd name="T66" fmla="*/ 46 w 1809"/>
              <a:gd name="T67" fmla="*/ 393 h 2152"/>
              <a:gd name="T68" fmla="*/ 49 w 1809"/>
              <a:gd name="T69" fmla="*/ 392 h 2152"/>
              <a:gd name="T70" fmla="*/ 954 w 1809"/>
              <a:gd name="T71" fmla="*/ 77 h 2152"/>
              <a:gd name="T72" fmla="*/ 978 w 1809"/>
              <a:gd name="T73" fmla="*/ 30 h 2152"/>
              <a:gd name="T74" fmla="*/ 497 w 1809"/>
              <a:gd name="T75" fmla="*/ 781 h 2152"/>
              <a:gd name="T76" fmla="*/ 497 w 1809"/>
              <a:gd name="T77" fmla="*/ 958 h 2152"/>
              <a:gd name="T78" fmla="*/ 325 w 1809"/>
              <a:gd name="T79" fmla="*/ 873 h 2152"/>
              <a:gd name="T80" fmla="*/ 325 w 1809"/>
              <a:gd name="T81" fmla="*/ 684 h 2152"/>
              <a:gd name="T82" fmla="*/ 497 w 1809"/>
              <a:gd name="T83" fmla="*/ 781 h 2152"/>
              <a:gd name="T84" fmla="*/ 1266 w 1809"/>
              <a:gd name="T85" fmla="*/ 230 h 2152"/>
              <a:gd name="T86" fmla="*/ 1219 w 1809"/>
              <a:gd name="T87" fmla="*/ 206 h 2152"/>
              <a:gd name="T88" fmla="*/ 313 w 1809"/>
              <a:gd name="T89" fmla="*/ 520 h 2152"/>
              <a:gd name="T90" fmla="*/ 288 w 1809"/>
              <a:gd name="T91" fmla="*/ 544 h 2152"/>
              <a:gd name="T92" fmla="*/ 288 w 1809"/>
              <a:gd name="T93" fmla="*/ 1837 h 2152"/>
              <a:gd name="T94" fmla="*/ 534 w 1809"/>
              <a:gd name="T95" fmla="*/ 1969 h 2152"/>
              <a:gd name="T96" fmla="*/ 534 w 1809"/>
              <a:gd name="T97" fmla="*/ 699 h 2152"/>
              <a:gd name="T98" fmla="*/ 334 w 1809"/>
              <a:gd name="T99" fmla="*/ 592 h 2152"/>
              <a:gd name="T100" fmla="*/ 337 w 1809"/>
              <a:gd name="T101" fmla="*/ 592 h 2152"/>
              <a:gd name="T102" fmla="*/ 1243 w 1809"/>
              <a:gd name="T103" fmla="*/ 277 h 2152"/>
              <a:gd name="T104" fmla="*/ 1266 w 1809"/>
              <a:gd name="T105" fmla="*/ 230 h 2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809" h="2152">
                <a:moveTo>
                  <a:pt x="870" y="879"/>
                </a:moveTo>
                <a:lnTo>
                  <a:pt x="870" y="2152"/>
                </a:lnTo>
                <a:lnTo>
                  <a:pt x="1809" y="1820"/>
                </a:lnTo>
                <a:lnTo>
                  <a:pt x="1809" y="547"/>
                </a:lnTo>
                <a:lnTo>
                  <a:pt x="870" y="879"/>
                </a:lnTo>
                <a:close/>
                <a:moveTo>
                  <a:pt x="785" y="961"/>
                </a:moveTo>
                <a:lnTo>
                  <a:pt x="785" y="1138"/>
                </a:lnTo>
                <a:cubicBezTo>
                  <a:pt x="699" y="1121"/>
                  <a:pt x="613" y="1053"/>
                  <a:pt x="613" y="1053"/>
                </a:cubicBezTo>
                <a:lnTo>
                  <a:pt x="613" y="864"/>
                </a:lnTo>
                <a:cubicBezTo>
                  <a:pt x="719" y="950"/>
                  <a:pt x="785" y="961"/>
                  <a:pt x="785" y="961"/>
                </a:cubicBezTo>
                <a:close/>
                <a:moveTo>
                  <a:pt x="1555" y="410"/>
                </a:moveTo>
                <a:cubicBezTo>
                  <a:pt x="1548" y="390"/>
                  <a:pt x="1527" y="379"/>
                  <a:pt x="1507" y="386"/>
                </a:cubicBezTo>
                <a:lnTo>
                  <a:pt x="602" y="700"/>
                </a:lnTo>
                <a:cubicBezTo>
                  <a:pt x="590" y="704"/>
                  <a:pt x="580" y="713"/>
                  <a:pt x="576" y="724"/>
                </a:cubicBezTo>
                <a:lnTo>
                  <a:pt x="576" y="2017"/>
                </a:lnTo>
                <a:cubicBezTo>
                  <a:pt x="608" y="2080"/>
                  <a:pt x="741" y="2149"/>
                  <a:pt x="822" y="2149"/>
                </a:cubicBezTo>
                <a:lnTo>
                  <a:pt x="822" y="879"/>
                </a:lnTo>
                <a:cubicBezTo>
                  <a:pt x="779" y="873"/>
                  <a:pt x="682" y="822"/>
                  <a:pt x="622" y="772"/>
                </a:cubicBezTo>
                <a:cubicBezTo>
                  <a:pt x="623" y="772"/>
                  <a:pt x="624" y="772"/>
                  <a:pt x="625" y="772"/>
                </a:cubicBezTo>
                <a:lnTo>
                  <a:pt x="1531" y="457"/>
                </a:lnTo>
                <a:cubicBezTo>
                  <a:pt x="1550" y="450"/>
                  <a:pt x="1561" y="429"/>
                  <a:pt x="1555" y="410"/>
                </a:cubicBezTo>
                <a:close/>
                <a:moveTo>
                  <a:pt x="209" y="581"/>
                </a:moveTo>
                <a:lnTo>
                  <a:pt x="209" y="758"/>
                </a:lnTo>
                <a:cubicBezTo>
                  <a:pt x="123" y="742"/>
                  <a:pt x="37" y="673"/>
                  <a:pt x="37" y="673"/>
                </a:cubicBezTo>
                <a:lnTo>
                  <a:pt x="37" y="484"/>
                </a:lnTo>
                <a:cubicBezTo>
                  <a:pt x="143" y="570"/>
                  <a:pt x="209" y="581"/>
                  <a:pt x="209" y="581"/>
                </a:cubicBezTo>
                <a:close/>
                <a:moveTo>
                  <a:pt x="978" y="30"/>
                </a:moveTo>
                <a:cubicBezTo>
                  <a:pt x="972" y="11"/>
                  <a:pt x="951" y="0"/>
                  <a:pt x="931" y="6"/>
                </a:cubicBezTo>
                <a:lnTo>
                  <a:pt x="25" y="321"/>
                </a:lnTo>
                <a:cubicBezTo>
                  <a:pt x="14" y="325"/>
                  <a:pt x="3" y="334"/>
                  <a:pt x="0" y="344"/>
                </a:cubicBezTo>
                <a:lnTo>
                  <a:pt x="0" y="1638"/>
                </a:lnTo>
                <a:cubicBezTo>
                  <a:pt x="32" y="1700"/>
                  <a:pt x="165" y="1770"/>
                  <a:pt x="246" y="1770"/>
                </a:cubicBezTo>
                <a:lnTo>
                  <a:pt x="246" y="500"/>
                </a:lnTo>
                <a:cubicBezTo>
                  <a:pt x="203" y="493"/>
                  <a:pt x="106" y="443"/>
                  <a:pt x="46" y="393"/>
                </a:cubicBezTo>
                <a:cubicBezTo>
                  <a:pt x="47" y="393"/>
                  <a:pt x="48" y="392"/>
                  <a:pt x="49" y="392"/>
                </a:cubicBezTo>
                <a:lnTo>
                  <a:pt x="954" y="77"/>
                </a:lnTo>
                <a:cubicBezTo>
                  <a:pt x="974" y="71"/>
                  <a:pt x="985" y="50"/>
                  <a:pt x="978" y="30"/>
                </a:cubicBezTo>
                <a:close/>
                <a:moveTo>
                  <a:pt x="497" y="781"/>
                </a:moveTo>
                <a:lnTo>
                  <a:pt x="497" y="958"/>
                </a:lnTo>
                <a:cubicBezTo>
                  <a:pt x="411" y="941"/>
                  <a:pt x="325" y="873"/>
                  <a:pt x="325" y="873"/>
                </a:cubicBezTo>
                <a:lnTo>
                  <a:pt x="325" y="684"/>
                </a:lnTo>
                <a:cubicBezTo>
                  <a:pt x="431" y="770"/>
                  <a:pt x="497" y="781"/>
                  <a:pt x="497" y="781"/>
                </a:cubicBezTo>
                <a:close/>
                <a:moveTo>
                  <a:pt x="1266" y="230"/>
                </a:moveTo>
                <a:cubicBezTo>
                  <a:pt x="1260" y="210"/>
                  <a:pt x="1239" y="199"/>
                  <a:pt x="1219" y="206"/>
                </a:cubicBezTo>
                <a:lnTo>
                  <a:pt x="313" y="520"/>
                </a:lnTo>
                <a:cubicBezTo>
                  <a:pt x="302" y="524"/>
                  <a:pt x="291" y="533"/>
                  <a:pt x="288" y="544"/>
                </a:cubicBezTo>
                <a:lnTo>
                  <a:pt x="288" y="1837"/>
                </a:lnTo>
                <a:cubicBezTo>
                  <a:pt x="320" y="1900"/>
                  <a:pt x="453" y="1969"/>
                  <a:pt x="534" y="1969"/>
                </a:cubicBezTo>
                <a:lnTo>
                  <a:pt x="534" y="699"/>
                </a:lnTo>
                <a:cubicBezTo>
                  <a:pt x="491" y="693"/>
                  <a:pt x="394" y="642"/>
                  <a:pt x="334" y="592"/>
                </a:cubicBezTo>
                <a:cubicBezTo>
                  <a:pt x="335" y="592"/>
                  <a:pt x="336" y="592"/>
                  <a:pt x="337" y="592"/>
                </a:cubicBezTo>
                <a:lnTo>
                  <a:pt x="1243" y="277"/>
                </a:lnTo>
                <a:cubicBezTo>
                  <a:pt x="1262" y="270"/>
                  <a:pt x="1273" y="249"/>
                  <a:pt x="1266" y="23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 userDrawn="1"/>
        </p:nvSpPr>
        <p:spPr>
          <a:xfrm>
            <a:off x="3364037" y="1792636"/>
            <a:ext cx="459740" cy="4291286"/>
          </a:xfrm>
          <a:prstGeom prst="rect">
            <a:avLst/>
          </a:prstGeom>
        </p:spPr>
        <p:txBody>
          <a:bodyPr vert="eaVert" wrap="none" rtlCol="0">
            <a:noAutofit/>
          </a:bodyPr>
          <a:p>
            <a:endParaRPr lang="zh-CN" altLang="en-US"/>
          </a:p>
        </p:txBody>
      </p:sp>
      <p:sp>
        <p:nvSpPr>
          <p:cNvPr id="73" name="文本框 72"/>
          <p:cNvSpPr txBox="1"/>
          <p:nvPr userDrawn="1"/>
        </p:nvSpPr>
        <p:spPr>
          <a:xfrm>
            <a:off x="3101869" y="2136803"/>
            <a:ext cx="7989113" cy="258445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/>
              <a:t>随着城市化的发展进程加快，源源不断的城市小型景观涌现出来，小型人工湖</a:t>
            </a:r>
            <a:endParaRPr lang="zh-CN" altLang="en-US"/>
          </a:p>
          <a:p>
            <a:pPr algn="l"/>
            <a:r>
              <a:rPr lang="zh-CN" altLang="en-US"/>
              <a:t>更是在公园和小区广泛的存在。水是生命之源，在人类社会发展中发挥着不可</a:t>
            </a:r>
            <a:endParaRPr lang="zh-CN" altLang="en-US"/>
          </a:p>
          <a:p>
            <a:pPr algn="l"/>
            <a:r>
              <a:rPr lang="zh-CN" altLang="en-US"/>
              <a:t>替代 的作用，而在城市的小型水域中，如果水面有固体垃圾将会严重影响自然景观的美观性和水质，导致淤积和异味。对于水面清理工具，大型的清洁打捞设备只适用于大型的水域如江河湖海等，体积大并灵活性低，对于城市小型景观公园主要采用人工清理。人工清理方法人力成本高，风险系数大，且效率低下。</a:t>
            </a:r>
            <a:endParaRPr lang="zh-CN" altLang="en-US"/>
          </a:p>
          <a:p>
            <a:pPr algn="l"/>
            <a:r>
              <a:rPr lang="zh-CN" altLang="en-US"/>
              <a:t>因此，小水域漂浮垃圾的收集迫切需要一种低人力成本、效率高的垃圾处理收集自动化设备。本次大创设计将研制一款性能优良、操作简单、成本低廉、使用安全的智能水面垃圾自动清理机器人。由于城市化进程的推进，城市环境保护问题迫在眉睫，小型水域的自动化环保治理刻不容缓。</a:t>
            </a:r>
            <a:endParaRPr lang="zh-CN" altLang="en-US"/>
          </a:p>
        </p:txBody>
      </p:sp>
      <p:sp>
        <p:nvSpPr>
          <p:cNvPr id="74" name="Freeform 15"/>
          <p:cNvSpPr/>
          <p:nvPr/>
        </p:nvSpPr>
        <p:spPr bwMode="auto">
          <a:xfrm>
            <a:off x="10577463" y="5243561"/>
            <a:ext cx="1614488" cy="1614488"/>
          </a:xfrm>
          <a:custGeom>
            <a:avLst/>
            <a:gdLst>
              <a:gd name="T0" fmla="*/ 0 w 2860"/>
              <a:gd name="T1" fmla="*/ 2147483647 h 2860"/>
              <a:gd name="T2" fmla="*/ 2147483647 w 2860"/>
              <a:gd name="T3" fmla="*/ 2147483647 h 2860"/>
              <a:gd name="T4" fmla="*/ 2147483647 w 2860"/>
              <a:gd name="T5" fmla="*/ 2147483647 h 2860"/>
              <a:gd name="T6" fmla="*/ 2147483647 w 2860"/>
              <a:gd name="T7" fmla="*/ 0 h 2860"/>
              <a:gd name="T8" fmla="*/ 2147483647 w 2860"/>
              <a:gd name="T9" fmla="*/ 0 h 2860"/>
              <a:gd name="T10" fmla="*/ 2147483647 w 2860"/>
              <a:gd name="T11" fmla="*/ 0 h 2860"/>
              <a:gd name="T12" fmla="*/ 0 w 2860"/>
              <a:gd name="T13" fmla="*/ 0 h 2860"/>
              <a:gd name="T14" fmla="*/ 0 w 2860"/>
              <a:gd name="T15" fmla="*/ 2147483647 h 2860"/>
              <a:gd name="T16" fmla="*/ 0 w 2860"/>
              <a:gd name="T17" fmla="*/ 2147483647 h 286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860" h="2860">
                <a:moveTo>
                  <a:pt x="0" y="1448"/>
                </a:moveTo>
                <a:cubicBezTo>
                  <a:pt x="10" y="2230"/>
                  <a:pt x="647" y="2860"/>
                  <a:pt x="1430" y="2860"/>
                </a:cubicBezTo>
                <a:cubicBezTo>
                  <a:pt x="2220" y="2860"/>
                  <a:pt x="2860" y="2220"/>
                  <a:pt x="2860" y="1430"/>
                </a:cubicBezTo>
                <a:cubicBezTo>
                  <a:pt x="2860" y="646"/>
                  <a:pt x="2230" y="10"/>
                  <a:pt x="1449" y="0"/>
                </a:cubicBezTo>
                <a:lnTo>
                  <a:pt x="1430" y="0"/>
                </a:lnTo>
                <a:lnTo>
                  <a:pt x="0" y="0"/>
                </a:lnTo>
                <a:lnTo>
                  <a:pt x="0" y="1430"/>
                </a:lnTo>
                <a:lnTo>
                  <a:pt x="0" y="1448"/>
                </a:lnTo>
                <a:close/>
              </a:path>
            </a:pathLst>
          </a:custGeom>
          <a:solidFill>
            <a:srgbClr val="024C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 kern="0">
              <a:solidFill>
                <a:srgbClr val="024C89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93345" y="316566"/>
            <a:ext cx="493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prstClr val="white"/>
                </a:solidFill>
                <a:latin typeface="Impact" panose="020B0806030902050204" pitchFamily="34" charset="0"/>
                <a:ea typeface="微软雅黑" panose="020B0503020204020204" charset="-122"/>
              </a:rPr>
              <a:t>2</a:t>
            </a:r>
            <a:endParaRPr lang="zh-CN" altLang="en-US" sz="4400" dirty="0">
              <a:solidFill>
                <a:prstClr val="white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12462" y="442936"/>
            <a:ext cx="3579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研究内容</a:t>
            </a:r>
            <a:endParaRPr lang="zh-CN" altLang="en-US" sz="3200" b="1" dirty="0">
              <a:solidFill>
                <a:prstClr val="white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360" y="2002438"/>
            <a:ext cx="24009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7406D"/>
                </a:solidFill>
                <a:latin typeface="Calibri" panose="020F0502020204030204"/>
                <a:ea typeface="微软雅黑" panose="020B0503020204020204" charset="-122"/>
              </a:rPr>
              <a:t>研究方向</a:t>
            </a:r>
            <a:endParaRPr lang="zh-CN" altLang="en-US" sz="2000" b="1" dirty="0">
              <a:solidFill>
                <a:srgbClr val="17406D"/>
              </a:solidFill>
              <a:latin typeface="Calibri" panose="020F0502020204030204"/>
              <a:ea typeface="微软雅黑" panose="020B0503020204020204" charset="-122"/>
            </a:endParaRP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7F7F7F"/>
                </a:solidFill>
                <a:latin typeface="Calibri" panose="020F0502020204030204"/>
                <a:ea typeface="微软雅黑" panose="020B0503020204020204" charset="-122"/>
              </a:rPr>
              <a:t>整体框架</a:t>
            </a:r>
            <a:endParaRPr lang="en-US" altLang="zh-CN" sz="2000" b="1" dirty="0">
              <a:solidFill>
                <a:srgbClr val="7F7F7F"/>
              </a:solidFill>
              <a:latin typeface="Calibri" panose="020F0502020204030204"/>
              <a:ea typeface="微软雅黑" panose="020B0503020204020204" charset="-122"/>
            </a:endParaRP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  <a:ea typeface="微软雅黑" panose="020B0503020204020204" charset="-122"/>
              </a:rPr>
              <a:t>研究理论依据</a:t>
            </a:r>
            <a:endParaRPr lang="zh-CN" altLang="en-US" sz="2000" dirty="0">
              <a:solidFill>
                <a:prstClr val="white">
                  <a:lumMod val="50000"/>
                </a:prstClr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9234" y="2406814"/>
            <a:ext cx="3482613" cy="4908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实现机器人在水面行进的动作</a:t>
            </a:r>
            <a:endParaRPr lang="zh-CN" altLang="en-US" sz="20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667127" y="2897716"/>
            <a:ext cx="2451703" cy="823213"/>
            <a:chOff x="3657602" y="2852609"/>
            <a:chExt cx="2451703" cy="823213"/>
          </a:xfrm>
        </p:grpSpPr>
        <p:sp>
          <p:nvSpPr>
            <p:cNvPr id="19" name="任意多边形 44"/>
            <p:cNvSpPr/>
            <p:nvPr/>
          </p:nvSpPr>
          <p:spPr>
            <a:xfrm>
              <a:off x="3657602" y="2852609"/>
              <a:ext cx="2451703" cy="823213"/>
            </a:xfrm>
            <a:custGeom>
              <a:avLst/>
              <a:gdLst>
                <a:gd name="connsiteX0" fmla="*/ 973060 w 1946120"/>
                <a:gd name="connsiteY0" fmla="*/ 0 h 823213"/>
                <a:gd name="connsiteX1" fmla="*/ 1118701 w 1946120"/>
                <a:gd name="connsiteY1" fmla="*/ 251105 h 823213"/>
                <a:gd name="connsiteX2" fmla="*/ 1850767 w 1946120"/>
                <a:gd name="connsiteY2" fmla="*/ 251105 h 823213"/>
                <a:gd name="connsiteX3" fmla="*/ 1946120 w 1946120"/>
                <a:gd name="connsiteY3" fmla="*/ 346458 h 823213"/>
                <a:gd name="connsiteX4" fmla="*/ 1946120 w 1946120"/>
                <a:gd name="connsiteY4" fmla="*/ 727860 h 823213"/>
                <a:gd name="connsiteX5" fmla="*/ 1850767 w 1946120"/>
                <a:gd name="connsiteY5" fmla="*/ 823213 h 823213"/>
                <a:gd name="connsiteX6" fmla="*/ 95353 w 1946120"/>
                <a:gd name="connsiteY6" fmla="*/ 823213 h 823213"/>
                <a:gd name="connsiteX7" fmla="*/ 0 w 1946120"/>
                <a:gd name="connsiteY7" fmla="*/ 727860 h 823213"/>
                <a:gd name="connsiteX8" fmla="*/ 0 w 1946120"/>
                <a:gd name="connsiteY8" fmla="*/ 346458 h 823213"/>
                <a:gd name="connsiteX9" fmla="*/ 95353 w 1946120"/>
                <a:gd name="connsiteY9" fmla="*/ 251105 h 823213"/>
                <a:gd name="connsiteX10" fmla="*/ 827419 w 1946120"/>
                <a:gd name="connsiteY10" fmla="*/ 251105 h 82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46120" h="823213">
                  <a:moveTo>
                    <a:pt x="973060" y="0"/>
                  </a:moveTo>
                  <a:lnTo>
                    <a:pt x="1118701" y="251105"/>
                  </a:lnTo>
                  <a:lnTo>
                    <a:pt x="1850767" y="251105"/>
                  </a:lnTo>
                  <a:cubicBezTo>
                    <a:pt x="1903429" y="251105"/>
                    <a:pt x="1946120" y="293796"/>
                    <a:pt x="1946120" y="346458"/>
                  </a:cubicBezTo>
                  <a:lnTo>
                    <a:pt x="1946120" y="727860"/>
                  </a:lnTo>
                  <a:cubicBezTo>
                    <a:pt x="1946120" y="780522"/>
                    <a:pt x="1903429" y="823213"/>
                    <a:pt x="1850767" y="823213"/>
                  </a:cubicBezTo>
                  <a:lnTo>
                    <a:pt x="95353" y="823213"/>
                  </a:lnTo>
                  <a:cubicBezTo>
                    <a:pt x="42691" y="823213"/>
                    <a:pt x="0" y="780522"/>
                    <a:pt x="0" y="727860"/>
                  </a:cubicBezTo>
                  <a:lnTo>
                    <a:pt x="0" y="346458"/>
                  </a:lnTo>
                  <a:cubicBezTo>
                    <a:pt x="0" y="293796"/>
                    <a:pt x="42691" y="251105"/>
                    <a:pt x="95353" y="251105"/>
                  </a:cubicBezTo>
                  <a:lnTo>
                    <a:pt x="827419" y="251105"/>
                  </a:lnTo>
                  <a:close/>
                </a:path>
              </a:pathLst>
            </a:custGeom>
            <a:solidFill>
              <a:srgbClr val="2E75B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221598" y="3186065"/>
              <a:ext cx="1742302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0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20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953906" y="3146062"/>
            <a:ext cx="2451703" cy="823213"/>
            <a:chOff x="5944381" y="3100955"/>
            <a:chExt cx="2451703" cy="823213"/>
          </a:xfrm>
        </p:grpSpPr>
        <p:sp>
          <p:nvSpPr>
            <p:cNvPr id="22" name="任意多边形 47"/>
            <p:cNvSpPr/>
            <p:nvPr/>
          </p:nvSpPr>
          <p:spPr>
            <a:xfrm flipH="1" flipV="1">
              <a:off x="5944381" y="3100955"/>
              <a:ext cx="2451703" cy="823213"/>
            </a:xfrm>
            <a:custGeom>
              <a:avLst/>
              <a:gdLst>
                <a:gd name="connsiteX0" fmla="*/ 973060 w 1946120"/>
                <a:gd name="connsiteY0" fmla="*/ 0 h 823213"/>
                <a:gd name="connsiteX1" fmla="*/ 1118701 w 1946120"/>
                <a:gd name="connsiteY1" fmla="*/ 251105 h 823213"/>
                <a:gd name="connsiteX2" fmla="*/ 1850767 w 1946120"/>
                <a:gd name="connsiteY2" fmla="*/ 251105 h 823213"/>
                <a:gd name="connsiteX3" fmla="*/ 1946120 w 1946120"/>
                <a:gd name="connsiteY3" fmla="*/ 346458 h 823213"/>
                <a:gd name="connsiteX4" fmla="*/ 1946120 w 1946120"/>
                <a:gd name="connsiteY4" fmla="*/ 727860 h 823213"/>
                <a:gd name="connsiteX5" fmla="*/ 1850767 w 1946120"/>
                <a:gd name="connsiteY5" fmla="*/ 823213 h 823213"/>
                <a:gd name="connsiteX6" fmla="*/ 95353 w 1946120"/>
                <a:gd name="connsiteY6" fmla="*/ 823213 h 823213"/>
                <a:gd name="connsiteX7" fmla="*/ 0 w 1946120"/>
                <a:gd name="connsiteY7" fmla="*/ 727860 h 823213"/>
                <a:gd name="connsiteX8" fmla="*/ 0 w 1946120"/>
                <a:gd name="connsiteY8" fmla="*/ 346458 h 823213"/>
                <a:gd name="connsiteX9" fmla="*/ 95353 w 1946120"/>
                <a:gd name="connsiteY9" fmla="*/ 251105 h 823213"/>
                <a:gd name="connsiteX10" fmla="*/ 827419 w 1946120"/>
                <a:gd name="connsiteY10" fmla="*/ 251105 h 82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46120" h="823213">
                  <a:moveTo>
                    <a:pt x="973060" y="0"/>
                  </a:moveTo>
                  <a:lnTo>
                    <a:pt x="1118701" y="251105"/>
                  </a:lnTo>
                  <a:lnTo>
                    <a:pt x="1850767" y="251105"/>
                  </a:lnTo>
                  <a:cubicBezTo>
                    <a:pt x="1903429" y="251105"/>
                    <a:pt x="1946120" y="293796"/>
                    <a:pt x="1946120" y="346458"/>
                  </a:cubicBezTo>
                  <a:lnTo>
                    <a:pt x="1946120" y="727860"/>
                  </a:lnTo>
                  <a:cubicBezTo>
                    <a:pt x="1946120" y="780522"/>
                    <a:pt x="1903429" y="823213"/>
                    <a:pt x="1850767" y="823213"/>
                  </a:cubicBezTo>
                  <a:lnTo>
                    <a:pt x="95353" y="823213"/>
                  </a:lnTo>
                  <a:cubicBezTo>
                    <a:pt x="42691" y="823213"/>
                    <a:pt x="0" y="780522"/>
                    <a:pt x="0" y="727860"/>
                  </a:cubicBezTo>
                  <a:lnTo>
                    <a:pt x="0" y="346458"/>
                  </a:lnTo>
                  <a:cubicBezTo>
                    <a:pt x="0" y="293796"/>
                    <a:pt x="42691" y="251105"/>
                    <a:pt x="95353" y="251105"/>
                  </a:cubicBezTo>
                  <a:lnTo>
                    <a:pt x="827419" y="251105"/>
                  </a:lnTo>
                  <a:close/>
                </a:path>
              </a:pathLst>
            </a:custGeom>
            <a:solidFill>
              <a:srgbClr val="17406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482276" y="3235541"/>
              <a:ext cx="1742302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0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20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300363" y="2907653"/>
            <a:ext cx="2451703" cy="823213"/>
            <a:chOff x="8290838" y="2862546"/>
            <a:chExt cx="2451703" cy="823213"/>
          </a:xfrm>
        </p:grpSpPr>
        <p:sp>
          <p:nvSpPr>
            <p:cNvPr id="25" name="任意多边形 50"/>
            <p:cNvSpPr/>
            <p:nvPr/>
          </p:nvSpPr>
          <p:spPr>
            <a:xfrm>
              <a:off x="8290838" y="2862546"/>
              <a:ext cx="2451703" cy="823213"/>
            </a:xfrm>
            <a:custGeom>
              <a:avLst/>
              <a:gdLst>
                <a:gd name="connsiteX0" fmla="*/ 973060 w 1946120"/>
                <a:gd name="connsiteY0" fmla="*/ 0 h 823213"/>
                <a:gd name="connsiteX1" fmla="*/ 1118701 w 1946120"/>
                <a:gd name="connsiteY1" fmla="*/ 251105 h 823213"/>
                <a:gd name="connsiteX2" fmla="*/ 1850767 w 1946120"/>
                <a:gd name="connsiteY2" fmla="*/ 251105 h 823213"/>
                <a:gd name="connsiteX3" fmla="*/ 1946120 w 1946120"/>
                <a:gd name="connsiteY3" fmla="*/ 346458 h 823213"/>
                <a:gd name="connsiteX4" fmla="*/ 1946120 w 1946120"/>
                <a:gd name="connsiteY4" fmla="*/ 727860 h 823213"/>
                <a:gd name="connsiteX5" fmla="*/ 1850767 w 1946120"/>
                <a:gd name="connsiteY5" fmla="*/ 823213 h 823213"/>
                <a:gd name="connsiteX6" fmla="*/ 95353 w 1946120"/>
                <a:gd name="connsiteY6" fmla="*/ 823213 h 823213"/>
                <a:gd name="connsiteX7" fmla="*/ 0 w 1946120"/>
                <a:gd name="connsiteY7" fmla="*/ 727860 h 823213"/>
                <a:gd name="connsiteX8" fmla="*/ 0 w 1946120"/>
                <a:gd name="connsiteY8" fmla="*/ 346458 h 823213"/>
                <a:gd name="connsiteX9" fmla="*/ 95353 w 1946120"/>
                <a:gd name="connsiteY9" fmla="*/ 251105 h 823213"/>
                <a:gd name="connsiteX10" fmla="*/ 827419 w 1946120"/>
                <a:gd name="connsiteY10" fmla="*/ 251105 h 82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46120" h="823213">
                  <a:moveTo>
                    <a:pt x="973060" y="0"/>
                  </a:moveTo>
                  <a:lnTo>
                    <a:pt x="1118701" y="251105"/>
                  </a:lnTo>
                  <a:lnTo>
                    <a:pt x="1850767" y="251105"/>
                  </a:lnTo>
                  <a:cubicBezTo>
                    <a:pt x="1903429" y="251105"/>
                    <a:pt x="1946120" y="293796"/>
                    <a:pt x="1946120" y="346458"/>
                  </a:cubicBezTo>
                  <a:lnTo>
                    <a:pt x="1946120" y="727860"/>
                  </a:lnTo>
                  <a:cubicBezTo>
                    <a:pt x="1946120" y="780522"/>
                    <a:pt x="1903429" y="823213"/>
                    <a:pt x="1850767" y="823213"/>
                  </a:cubicBezTo>
                  <a:lnTo>
                    <a:pt x="95353" y="823213"/>
                  </a:lnTo>
                  <a:cubicBezTo>
                    <a:pt x="42691" y="823213"/>
                    <a:pt x="0" y="780522"/>
                    <a:pt x="0" y="727860"/>
                  </a:cubicBezTo>
                  <a:lnTo>
                    <a:pt x="0" y="346458"/>
                  </a:lnTo>
                  <a:cubicBezTo>
                    <a:pt x="0" y="293796"/>
                    <a:pt x="42691" y="251105"/>
                    <a:pt x="95353" y="251105"/>
                  </a:cubicBezTo>
                  <a:lnTo>
                    <a:pt x="827419" y="251105"/>
                  </a:lnTo>
                  <a:close/>
                </a:path>
              </a:pathLst>
            </a:custGeom>
            <a:solidFill>
              <a:srgbClr val="2E75B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835432" y="3250741"/>
              <a:ext cx="1742302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0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20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806435" y="4134951"/>
            <a:ext cx="2746519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机器人自动识别功能</a:t>
            </a:r>
            <a:endParaRPr lang="zh-CN" altLang="en-US" sz="20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73680" y="2406846"/>
            <a:ext cx="2705124" cy="426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机器人捡拾垃圾功能</a:t>
            </a:r>
            <a:endParaRPr lang="zh-CN" altLang="en-US" sz="20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7" grpId="0"/>
      <p:bldP spid="27" grpId="1"/>
      <p:bldP spid="28" grpId="0"/>
      <p:bldP spid="2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2612462" y="442936"/>
            <a:ext cx="357913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研究内容</a:t>
            </a:r>
            <a:endParaRPr lang="zh-CN" altLang="en-US" sz="3200" b="1" dirty="0">
              <a:solidFill>
                <a:prstClr val="white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9" name="Line 5"/>
          <p:cNvSpPr>
            <a:spLocks noChangeShapeType="1"/>
          </p:cNvSpPr>
          <p:nvPr/>
        </p:nvSpPr>
        <p:spPr bwMode="auto">
          <a:xfrm>
            <a:off x="5306430" y="1520716"/>
            <a:ext cx="0" cy="5260975"/>
          </a:xfrm>
          <a:prstGeom prst="line">
            <a:avLst/>
          </a:prstGeom>
          <a:noFill/>
          <a:ln w="28575">
            <a:solidFill>
              <a:srgbClr val="17406D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24C89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0" name="Oval 6"/>
          <p:cNvSpPr>
            <a:spLocks noChangeArrowheads="1"/>
          </p:cNvSpPr>
          <p:nvPr/>
        </p:nvSpPr>
        <p:spPr bwMode="auto">
          <a:xfrm>
            <a:off x="5196044" y="1311166"/>
            <a:ext cx="220663" cy="209550"/>
          </a:xfrm>
          <a:prstGeom prst="ellipse">
            <a:avLst/>
          </a:prstGeom>
          <a:solidFill>
            <a:sysClr val="window" lastClr="FFFFFF"/>
          </a:solidFill>
          <a:ln w="7">
            <a:solidFill>
              <a:srgbClr val="0F6FC6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24C89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1" name="Oval 7"/>
          <p:cNvSpPr>
            <a:spLocks noChangeArrowheads="1"/>
          </p:cNvSpPr>
          <p:nvPr/>
        </p:nvSpPr>
        <p:spPr bwMode="auto">
          <a:xfrm>
            <a:off x="5196044" y="2252488"/>
            <a:ext cx="220663" cy="209550"/>
          </a:xfrm>
          <a:prstGeom prst="ellipse">
            <a:avLst/>
          </a:prstGeom>
          <a:solidFill>
            <a:sysClr val="window" lastClr="FFFFFF"/>
          </a:solidFill>
          <a:ln w="7">
            <a:solidFill>
              <a:srgbClr val="0F6FC6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24C89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2" name="Oval 8"/>
          <p:cNvSpPr>
            <a:spLocks noChangeArrowheads="1"/>
          </p:cNvSpPr>
          <p:nvPr/>
        </p:nvSpPr>
        <p:spPr bwMode="auto">
          <a:xfrm>
            <a:off x="5196044" y="3193350"/>
            <a:ext cx="220663" cy="209550"/>
          </a:xfrm>
          <a:prstGeom prst="ellipse">
            <a:avLst/>
          </a:prstGeom>
          <a:solidFill>
            <a:sysClr val="window" lastClr="FFFFFF"/>
          </a:solidFill>
          <a:ln w="7">
            <a:solidFill>
              <a:srgbClr val="0F6FC6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24C89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3" name="Oval 9"/>
          <p:cNvSpPr>
            <a:spLocks noChangeArrowheads="1"/>
          </p:cNvSpPr>
          <p:nvPr/>
        </p:nvSpPr>
        <p:spPr bwMode="auto">
          <a:xfrm>
            <a:off x="5196044" y="4047252"/>
            <a:ext cx="220663" cy="207963"/>
          </a:xfrm>
          <a:prstGeom prst="ellipse">
            <a:avLst/>
          </a:prstGeom>
          <a:solidFill>
            <a:sysClr val="window" lastClr="FFFFFF"/>
          </a:solidFill>
          <a:ln w="7">
            <a:solidFill>
              <a:srgbClr val="0F6FC6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24C89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4" name="Oval 10"/>
          <p:cNvSpPr>
            <a:spLocks noChangeArrowheads="1"/>
          </p:cNvSpPr>
          <p:nvPr/>
        </p:nvSpPr>
        <p:spPr bwMode="auto">
          <a:xfrm>
            <a:off x="5196044" y="5072501"/>
            <a:ext cx="220663" cy="207962"/>
          </a:xfrm>
          <a:prstGeom prst="ellipse">
            <a:avLst/>
          </a:prstGeom>
          <a:solidFill>
            <a:sysClr val="window" lastClr="FFFFFF"/>
          </a:solidFill>
          <a:ln w="7">
            <a:solidFill>
              <a:srgbClr val="0F6FC6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24C89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5" name="Oval 11"/>
          <p:cNvSpPr>
            <a:spLocks noChangeArrowheads="1"/>
          </p:cNvSpPr>
          <p:nvPr/>
        </p:nvSpPr>
        <p:spPr bwMode="auto">
          <a:xfrm>
            <a:off x="5196044" y="5922290"/>
            <a:ext cx="220663" cy="209550"/>
          </a:xfrm>
          <a:prstGeom prst="ellipse">
            <a:avLst/>
          </a:prstGeom>
          <a:solidFill>
            <a:sysClr val="window" lastClr="FFFFFF"/>
          </a:solidFill>
          <a:ln w="7">
            <a:solidFill>
              <a:srgbClr val="0F6FC6"/>
            </a:solidFill>
            <a:round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24C89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6" name="Oval 12"/>
          <p:cNvSpPr>
            <a:spLocks noChangeArrowheads="1"/>
          </p:cNvSpPr>
          <p:nvPr/>
        </p:nvSpPr>
        <p:spPr bwMode="auto">
          <a:xfrm>
            <a:off x="5267537" y="6708725"/>
            <a:ext cx="77787" cy="73025"/>
          </a:xfrm>
          <a:prstGeom prst="ellipse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024C89"/>
              </a:solidFill>
              <a:ea typeface="宋体" panose="02010600030101010101" pitchFamily="2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493345" y="316566"/>
            <a:ext cx="493486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prstClr val="white"/>
                </a:solidFill>
                <a:latin typeface="Impact" panose="020B0806030902050204" pitchFamily="34" charset="0"/>
                <a:ea typeface="微软雅黑" panose="020B0503020204020204" charset="-122"/>
              </a:rPr>
              <a:t>2</a:t>
            </a:r>
            <a:endParaRPr lang="zh-CN" altLang="en-US" sz="4400" dirty="0">
              <a:solidFill>
                <a:prstClr val="white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95573" y="1520716"/>
            <a:ext cx="2083173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整体框架 </a:t>
            </a:r>
            <a:endParaRPr lang="zh-CN" altLang="en-US" sz="28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 descr="upload_post_object_v2_0046822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6211" y="3089057"/>
            <a:ext cx="5226893" cy="3768966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137972" y="2097681"/>
            <a:ext cx="5058061" cy="3824672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水面垃圾自动清理机器人拥有 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大系统板块，具体机器设计框架如图所示。</a:t>
            </a:r>
            <a:endParaRPr lang="zh-CN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其中，机械系统后方设置双螺旋桨，可调节式的浮力筒放置于机身两侧。</a:t>
            </a:r>
            <a:endParaRPr lang="zh-CN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传感器系统主要包括视觉传感器、姿态传感器、风向传感器、超声波传感器等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同时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还在机器人内部装载了 </a:t>
            </a:r>
            <a:r>
              <a:rPr 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GPS </a:t>
            </a:r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系统。执行系统有螺旋桨、机械臂及传送带。</a:t>
            </a:r>
            <a:endParaRPr lang="zh-CN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供电系统为太阳能供电，可以给水面垃圾自动清理机器人提供长期的电池续航。</a:t>
            </a:r>
            <a:endParaRPr lang="zh-CN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远程遥控系统包括发射模块和接收模块。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upload_post_object_v2_071876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199" y="1181725"/>
            <a:ext cx="5226865" cy="19073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93345" y="316566"/>
            <a:ext cx="493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prstClr val="white"/>
                </a:solidFill>
                <a:latin typeface="Impact" panose="020B0806030902050204" pitchFamily="34" charset="0"/>
                <a:ea typeface="微软雅黑" panose="020B0503020204020204" charset="-122"/>
              </a:rPr>
              <a:t>2</a:t>
            </a:r>
            <a:endParaRPr lang="zh-CN" altLang="en-US" sz="4400" dirty="0">
              <a:solidFill>
                <a:prstClr val="white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12462" y="442936"/>
            <a:ext cx="3579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研究内容</a:t>
            </a:r>
            <a:endParaRPr lang="zh-CN" altLang="en-US" sz="3200" b="1" dirty="0">
              <a:solidFill>
                <a:prstClr val="white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360" y="2002438"/>
            <a:ext cx="24009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  <a:ea typeface="微软雅黑" panose="020B0503020204020204" charset="-122"/>
              </a:rPr>
              <a:t>研究方向</a:t>
            </a:r>
            <a:endParaRPr lang="zh-CN" altLang="en-US" sz="2000" dirty="0">
              <a:solidFill>
                <a:prstClr val="white">
                  <a:lumMod val="50000"/>
                </a:prstClr>
              </a:solidFill>
              <a:latin typeface="Calibri" panose="020F0502020204030204"/>
              <a:ea typeface="微软雅黑" panose="020B0503020204020204" charset="-122"/>
            </a:endParaRP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white">
                    <a:lumMod val="50000"/>
                  </a:prstClr>
                </a:solidFill>
                <a:latin typeface="Calibri" panose="020F0502020204030204" charset="0"/>
                <a:ea typeface="微软雅黑" panose="020B0503020204020204" charset="-122"/>
              </a:rPr>
              <a:t>整体框架</a:t>
            </a:r>
            <a:endParaRPr lang="en-US" altLang="zh-CN" sz="2000" dirty="0">
              <a:solidFill>
                <a:prstClr val="white">
                  <a:lumMod val="50000"/>
                </a:prstClr>
              </a:solidFill>
              <a:latin typeface="Calibri" panose="020F0502020204030204"/>
              <a:ea typeface="微软雅黑" panose="020B0503020204020204" charset="-122"/>
            </a:endParaRP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17406D"/>
                </a:solidFill>
                <a:latin typeface="Calibri" panose="020F0502020204030204"/>
                <a:ea typeface="微软雅黑" panose="020B0503020204020204" charset="-122"/>
              </a:rPr>
              <a:t>研究理论依据</a:t>
            </a:r>
            <a:endParaRPr lang="zh-CN" altLang="en-US" sz="2000" dirty="0">
              <a:solidFill>
                <a:prstClr val="white">
                  <a:lumMod val="50000"/>
                </a:prstClr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277246" y="1785092"/>
            <a:ext cx="3969590" cy="2419402"/>
          </a:xfrm>
          <a:prstGeom prst="rect">
            <a:avLst/>
          </a:prstGeom>
          <a:solidFill>
            <a:srgbClr val="53823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277246" y="1331275"/>
            <a:ext cx="704156" cy="469064"/>
          </a:xfrm>
          <a:prstGeom prst="rect">
            <a:avLst/>
          </a:prstGeom>
          <a:solidFill>
            <a:srgbClr val="53823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rPr>
              <a:t>01</a:t>
            </a:r>
            <a:endParaRPr lang="zh-CN" altLang="en-US" b="1" kern="0" dirty="0">
              <a:solidFill>
                <a:prstClr val="white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573358" y="2002416"/>
            <a:ext cx="3503244" cy="22020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b="0" u="non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主要的行驶装置方案根据动力的大小和灵活性进行设计，推进方式以螺旋桨推进方案为主，</a:t>
            </a:r>
            <a:r>
              <a:rPr lang="zh-CN" altLang="en-US" b="0" u="non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</a:t>
            </a:r>
            <a:r>
              <a:rPr lang="zh-CN" b="0" u="non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螺旋桨推进装置 </a:t>
            </a:r>
            <a:r>
              <a:rPr lang="zh-CN" altLang="en-US" b="0" u="non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b="0" u="non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通过叶片的旋转，使其快速回流，对水施加压力，同时产生向前的推力驱动机器人前进</a:t>
            </a:r>
            <a:endParaRPr lang="zh-CN" altLang="en-US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>
              <a:solidFill>
                <a:prstClr val="whit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981375" y="1357256"/>
            <a:ext cx="2059664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水面推进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938190" y="1826211"/>
            <a:ext cx="4055163" cy="2378283"/>
          </a:xfrm>
          <a:prstGeom prst="rect">
            <a:avLst/>
          </a:prstGeom>
          <a:solidFill>
            <a:srgbClr val="1F4E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938190" y="1357206"/>
            <a:ext cx="704156" cy="469064"/>
          </a:xfrm>
          <a:prstGeom prst="rect">
            <a:avLst/>
          </a:prstGeom>
          <a:solidFill>
            <a:srgbClr val="1F4E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rPr>
              <a:t>02</a:t>
            </a:r>
            <a:endParaRPr lang="zh-CN" altLang="en-US" b="1" kern="0" dirty="0">
              <a:solidFill>
                <a:prstClr val="white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642320" y="1391752"/>
            <a:ext cx="174230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自动识别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056483" y="2594805"/>
            <a:ext cx="311800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sz="2000" b="0" u="none">
                <a:solidFill>
                  <a:srgbClr val="FFFFFF"/>
                </a:solidFill>
                <a:ea typeface="宋体" panose="02010600030101010101" pitchFamily="2" charset="-122"/>
              </a:rPr>
              <a:t>方案一，颜色特征提取</a:t>
            </a:r>
            <a:endParaRPr lang="zh-CN" sz="2000" b="0" u="none">
              <a:solidFill>
                <a:srgbClr val="FFFFFF"/>
              </a:solidFill>
              <a:ea typeface="宋体" panose="02010600030101010101" pitchFamily="2" charset="-122"/>
            </a:endParaRPr>
          </a:p>
          <a:p>
            <a:pPr algn="l"/>
            <a:r>
              <a:rPr lang="zh-CN" sz="2000" b="0" u="none">
                <a:solidFill>
                  <a:srgbClr val="FFFFFF"/>
                </a:solidFill>
                <a:ea typeface="宋体" panose="02010600030101010101" pitchFamily="2" charset="-122"/>
              </a:rPr>
              <a:t>方案二：纹理特征提取</a:t>
            </a:r>
            <a:endParaRPr lang="zh-CN" altLang="en-US" sz="2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6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6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277270" y="4855205"/>
            <a:ext cx="4170275" cy="2002830"/>
          </a:xfrm>
          <a:prstGeom prst="rect">
            <a:avLst/>
          </a:prstGeom>
          <a:solidFill>
            <a:srgbClr val="1F4E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277236" y="4394636"/>
            <a:ext cx="704156" cy="469064"/>
          </a:xfrm>
          <a:prstGeom prst="rect">
            <a:avLst/>
          </a:prstGeom>
          <a:solidFill>
            <a:srgbClr val="1F4E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宋体" panose="02010600030101010101" pitchFamily="2" charset="-122"/>
              </a:rPr>
              <a:t>03</a:t>
            </a:r>
            <a:endParaRPr lang="zh-CN" altLang="en-US" b="1" kern="0" dirty="0">
              <a:solidFill>
                <a:prstClr val="white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28579" y="4862676"/>
            <a:ext cx="4014902" cy="19953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zh-CN" sz="1050" b="0" u="none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l"/>
            <a:r>
              <a:rPr lang="zh-CN" sz="2000" b="0" u="none">
                <a:solidFill>
                  <a:srgbClr val="FFFFFF"/>
                </a:solidFill>
                <a:ea typeface="宋体" panose="02010600030101010101" pitchFamily="2" charset="-122"/>
              </a:rPr>
              <a:t>旋转式垃圾收集装置 ：此方案的设计优势是整体的机械结构简单，可连续工作。劣势是容易出现垃 圾卡顿阻塞的情况，并且难以准确地将垃圾送入垃圾收集室。</a:t>
            </a:r>
            <a:endParaRPr lang="zh-CN" altLang="en-US" sz="2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6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6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032190" y="4855263"/>
            <a:ext cx="311800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6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3877336" y="4486925"/>
            <a:ext cx="1821382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捡拾垃圾功能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7" grpId="1"/>
      <p:bldP spid="52" grpId="0"/>
      <p:bldP spid="52" grpId="1"/>
      <p:bldP spid="55" grpId="0"/>
      <p:bldP spid="5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2612462" y="442936"/>
            <a:ext cx="357913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研究展望</a:t>
            </a:r>
            <a:endParaRPr lang="zh-CN" altLang="en-US" sz="3200" b="1" dirty="0">
              <a:solidFill>
                <a:prstClr val="white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59" name="下箭头 28"/>
          <p:cNvSpPr/>
          <p:nvPr/>
        </p:nvSpPr>
        <p:spPr>
          <a:xfrm rot="16200000" flipH="1">
            <a:off x="360239" y="2103752"/>
            <a:ext cx="1921942" cy="1518127"/>
          </a:xfrm>
          <a:prstGeom prst="downArrow">
            <a:avLst/>
          </a:prstGeom>
          <a:solidFill>
            <a:srgbClr val="0F6F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 60"/>
          <p:cNvSpPr/>
          <p:nvPr/>
        </p:nvSpPr>
        <p:spPr>
          <a:xfrm rot="21222169">
            <a:off x="3292640" y="6009383"/>
            <a:ext cx="8466730" cy="143458"/>
          </a:xfrm>
          <a:prstGeom prst="rect">
            <a:avLst/>
          </a:prstGeom>
          <a:solidFill>
            <a:srgbClr val="1F4E7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493345" y="316566"/>
            <a:ext cx="493486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prstClr val="white"/>
                </a:solidFill>
                <a:latin typeface="Impact" panose="020B0806030902050204" pitchFamily="34" charset="0"/>
                <a:ea typeface="微软雅黑" panose="020B0503020204020204" charset="-122"/>
              </a:rPr>
              <a:t>3</a:t>
            </a:r>
            <a:endParaRPr lang="zh-CN" altLang="en-US" sz="4400" dirty="0">
              <a:solidFill>
                <a:prstClr val="white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3310379" y="2023943"/>
            <a:ext cx="6490538" cy="343344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sz="2800" b="0" u="none">
                <a:solidFill>
                  <a:srgbClr val="000000"/>
                </a:solidFill>
                <a:ea typeface="宋体" panose="02010600030101010101" pitchFamily="2" charset="-122"/>
              </a:rPr>
              <a:t>小车预期实现外形小巧灵活、电池续航能力长可持续供电、水面垃圾和障碍物的自主识别 </a:t>
            </a:r>
            <a:r>
              <a:rPr lang="en-US" altLang="zh-CN" sz="2800" b="0" u="none">
                <a:solidFill>
                  <a:srgbClr val="000000"/>
                </a:solidFill>
                <a:ea typeface="宋体" panose="02010600030101010101" pitchFamily="2" charset="-122"/>
              </a:rPr>
              <a:t>3 </a:t>
            </a:r>
            <a:r>
              <a:rPr lang="zh-CN" altLang="en-US" sz="2800" b="0" u="none">
                <a:solidFill>
                  <a:srgbClr val="000000"/>
                </a:solidFill>
                <a:ea typeface="宋体" panose="02010600030101010101" pitchFamily="2" charset="-122"/>
              </a:rPr>
              <a:t>种功能。并可广泛运用于多种小型水域，能够应对复杂水域环境，迅速识别垃圾并回收。</a:t>
            </a:r>
            <a:endParaRPr lang="zh-CN" altLang="en-US" sz="2800" b="0" u="none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7672" y="3111688"/>
            <a:ext cx="7037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17406D"/>
                </a:solidFill>
                <a:latin typeface="微软雅黑" panose="020B0503020204020204" charset="-122"/>
                <a:ea typeface="微软雅黑" panose="020B0503020204020204" charset="-122"/>
              </a:rPr>
              <a:t>谢谢！欢迎各位评委批评！</a:t>
            </a:r>
            <a:endParaRPr lang="zh-CN" altLang="en-US" sz="3200" dirty="0">
              <a:solidFill>
                <a:srgbClr val="17406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7672" y="4098610"/>
            <a:ext cx="6791324" cy="52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7672" y="2918961"/>
            <a:ext cx="10656725" cy="3193431"/>
            <a:chOff x="477672" y="2918961"/>
            <a:chExt cx="10656725" cy="3193431"/>
          </a:xfrm>
          <a:noFill/>
        </p:grpSpPr>
        <p:sp>
          <p:nvSpPr>
            <p:cNvPr id="8" name="矩形 7"/>
            <p:cNvSpPr/>
            <p:nvPr/>
          </p:nvSpPr>
          <p:spPr>
            <a:xfrm>
              <a:off x="7468449" y="2918961"/>
              <a:ext cx="3665948" cy="19243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77672" y="5190372"/>
              <a:ext cx="3643952" cy="9220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汇报人：陈功力</a:t>
              </a:r>
              <a:endParaRPr lang="en-US" altLang="zh-CN" dirty="0">
                <a:solidFill>
                  <a:srgbClr val="3645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2022</a:t>
              </a:r>
              <a:r>
                <a:rPr lang="zh-CN" altLang="en-US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lang="en-US" altLang="zh-CN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12</a:t>
              </a:r>
              <a:r>
                <a:rPr lang="zh-CN" altLang="en-US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lang="en-US" altLang="zh-CN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en-US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lang="zh-CN" altLang="en-US" dirty="0">
                <a:solidFill>
                  <a:srgbClr val="36456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2cf3aa13-be18-42d9-9987-49a2140be93e"/>
  <p:tag name="COMMONDATA" val="eyJoZGlkIjoiOGM1NmYzMzZmZmY4MDYyMGNjZjBkNjBkOTUzOWRlY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WPS 演示</Application>
  <PresentationFormat>宽屏</PresentationFormat>
  <Paragraphs>102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Impact</vt:lpstr>
      <vt:lpstr>Calibri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北京化工大学PPT模板2</dc:title>
  <dc:creator/>
  <cp:lastModifiedBy>幼稚园园长</cp:lastModifiedBy>
  <cp:revision>1</cp:revision>
  <dcterms:created xsi:type="dcterms:W3CDTF">2022-12-10T03:12:47Z</dcterms:created>
  <dcterms:modified xsi:type="dcterms:W3CDTF">2022-12-10T03:12:47Z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8DFD5B78B9C74B9BB91D88D7AC9C756B</vt:lpwstr>
  </property>
  <property fmtid="{D5CDD505-2E9C-101B-9397-08002B2CF9AE}" pid="3" name="KSOProductBuildVer">
    <vt:lpwstr>2052-11.1.0.12763</vt:lpwstr>
  </property>
</Properties>
</file>